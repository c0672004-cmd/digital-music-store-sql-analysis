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0599B5-CB1E-4668-8565-BAC441BD95E6}">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8478"/>
    <a:srgbClr val="767171"/>
    <a:srgbClr val="E1C9A3"/>
    <a:srgbClr val="FDDFE4"/>
    <a:srgbClr val="FEECEF"/>
    <a:srgbClr val="E5FFFE"/>
    <a:srgbClr val="D5FFFD"/>
    <a:srgbClr val="FDDFE3"/>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F2F5D-2738-4642-801C-DA2044412611}" v="89" dt="2026-05-31T22:15:38.9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p:scale>
          <a:sx n="126" d="100"/>
          <a:sy n="126" d="100"/>
        </p:scale>
        <p:origin x="91" y="154"/>
      </p:cViewPr>
      <p:guideLst/>
    </p:cSldViewPr>
  </p:slideViewPr>
  <p:notesTextViewPr>
    <p:cViewPr>
      <p:scale>
        <a:sx n="1" d="1"/>
        <a:sy n="1" d="1"/>
      </p:scale>
      <p:origin x="0" y="-13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file:///H:\My%20Drive\projects\ededge\business%20analysy\sql\music%20store%20data\invoice.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H:\My%20Drive\projects\ededge\business%20analysy\sql\music%20store%20data\customer.csv"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[invoice.csv]Sheet2!PivotTable1</c:name>
    <c:fmtId val="8"/>
  </c:pivotSource>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a:t>Gross</a:t>
            </a:r>
            <a:r>
              <a:rPr lang="en-US" baseline="0"/>
              <a:t> Revenue by City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Sheet2!$A$4:$A$57</c:f>
              <c:strCache>
                <c:ptCount val="53"/>
                <c:pt idx="0">
                  <c:v>Yellowknife</c:v>
                </c:pt>
                <c:pt idx="1">
                  <c:v>Winnipeg</c:v>
                </c:pt>
                <c:pt idx="2">
                  <c:v>Warsaw</c:v>
                </c:pt>
                <c:pt idx="3">
                  <c:v>Vienne</c:v>
                </c:pt>
                <c:pt idx="4">
                  <c:v>Vancouver</c:v>
                </c:pt>
                <c:pt idx="5">
                  <c:v>Tucson</c:v>
                </c:pt>
                <c:pt idx="6">
                  <c:v>Toronto</c:v>
                </c:pt>
                <c:pt idx="7">
                  <c:v>Stuttgart</c:v>
                </c:pt>
                <c:pt idx="8">
                  <c:v>Stockholm</c:v>
                </c:pt>
                <c:pt idx="9">
                  <c:v>Sidney</c:v>
                </c:pt>
                <c:pt idx="10">
                  <c:v>Santiago</c:v>
                </c:pt>
                <c:pt idx="11">
                  <c:v>Salt Lake City</c:v>
                </c:pt>
                <c:pt idx="12">
                  <c:v>SÃ£o Paulo</c:v>
                </c:pt>
                <c:pt idx="13">
                  <c:v>SÃ£o JosÃ© dos Campos</c:v>
                </c:pt>
                <c:pt idx="14">
                  <c:v>Rome</c:v>
                </c:pt>
                <c:pt idx="15">
                  <c:v>Rio de Janeiro</c:v>
                </c:pt>
                <c:pt idx="16">
                  <c:v>Reno</c:v>
                </c:pt>
                <c:pt idx="17">
                  <c:v>Redmond</c:v>
                </c:pt>
                <c:pt idx="18">
                  <c:v>Prague</c:v>
                </c:pt>
                <c:pt idx="19">
                  <c:v>Porto</c:v>
                </c:pt>
                <c:pt idx="20">
                  <c:v>Paris</c:v>
                </c:pt>
                <c:pt idx="21">
                  <c:v>Ottawa</c:v>
                </c:pt>
                <c:pt idx="22">
                  <c:v>Oslo</c:v>
                </c:pt>
                <c:pt idx="23">
                  <c:v>Orlando</c:v>
                </c:pt>
                <c:pt idx="24">
                  <c:v>New York</c:v>
                </c:pt>
                <c:pt idx="25">
                  <c:v>Mountain View</c:v>
                </c:pt>
                <c:pt idx="26">
                  <c:v>MontrÃ©al</c:v>
                </c:pt>
                <c:pt idx="27">
                  <c:v>Madrid</c:v>
                </c:pt>
                <c:pt idx="28">
                  <c:v>Madison</c:v>
                </c:pt>
                <c:pt idx="29">
                  <c:v>Lyon</c:v>
                </c:pt>
                <c:pt idx="30">
                  <c:v>London</c:v>
                </c:pt>
                <c:pt idx="31">
                  <c:v>Lisbon</c:v>
                </c:pt>
                <c:pt idx="32">
                  <c:v>Helsinki</c:v>
                </c:pt>
                <c:pt idx="33">
                  <c:v>Halifax</c:v>
                </c:pt>
                <c:pt idx="34">
                  <c:v>Frankfurt</c:v>
                </c:pt>
                <c:pt idx="35">
                  <c:v>Fort Worth</c:v>
                </c:pt>
                <c:pt idx="36">
                  <c:v>Edmonton</c:v>
                </c:pt>
                <c:pt idx="37">
                  <c:v>Edinburgh </c:v>
                </c:pt>
                <c:pt idx="38">
                  <c:v>Dublin</c:v>
                </c:pt>
                <c:pt idx="39">
                  <c:v>Dijon</c:v>
                </c:pt>
                <c:pt idx="40">
                  <c:v>Delhi</c:v>
                </c:pt>
                <c:pt idx="41">
                  <c:v>Cupertino</c:v>
                </c:pt>
                <c:pt idx="42">
                  <c:v>Copenhagen</c:v>
                </c:pt>
                <c:pt idx="43">
                  <c:v>Chicago</c:v>
                </c:pt>
                <c:pt idx="44">
                  <c:v>Buenos Aires</c:v>
                </c:pt>
                <c:pt idx="45">
                  <c:v>Budapest</c:v>
                </c:pt>
                <c:pt idx="46">
                  <c:v>Brussels</c:v>
                </c:pt>
                <c:pt idx="47">
                  <c:v>BrasÃ­lia</c:v>
                </c:pt>
                <c:pt idx="48">
                  <c:v>Boston</c:v>
                </c:pt>
                <c:pt idx="49">
                  <c:v>Bordeaux</c:v>
                </c:pt>
                <c:pt idx="50">
                  <c:v>Berlin</c:v>
                </c:pt>
                <c:pt idx="51">
                  <c:v>Bangalore</c:v>
                </c:pt>
                <c:pt idx="52">
                  <c:v>Amsterdam</c:v>
                </c:pt>
              </c:strCache>
            </c:strRef>
          </c:cat>
          <c:val>
            <c:numRef>
              <c:f>Sheet2!$B$4:$B$57</c:f>
              <c:numCache>
                <c:formatCode>General</c:formatCode>
                <c:ptCount val="53"/>
                <c:pt idx="0">
                  <c:v>57.42</c:v>
                </c:pt>
                <c:pt idx="1">
                  <c:v>64.349999999999994</c:v>
                </c:pt>
                <c:pt idx="2">
                  <c:v>76.22999999999999</c:v>
                </c:pt>
                <c:pt idx="3">
                  <c:v>48.510000000000005</c:v>
                </c:pt>
                <c:pt idx="4">
                  <c:v>39.6</c:v>
                </c:pt>
                <c:pt idx="5">
                  <c:v>84.149999999999991</c:v>
                </c:pt>
                <c:pt idx="6">
                  <c:v>34.650000000000006</c:v>
                </c:pt>
                <c:pt idx="7">
                  <c:v>73.260000000000005</c:v>
                </c:pt>
                <c:pt idx="8">
                  <c:v>60.39</c:v>
                </c:pt>
                <c:pt idx="9">
                  <c:v>81.180000000000007</c:v>
                </c:pt>
                <c:pt idx="10">
                  <c:v>85.140000000000015</c:v>
                </c:pt>
                <c:pt idx="11">
                  <c:v>69.3</c:v>
                </c:pt>
                <c:pt idx="12">
                  <c:v>114.84</c:v>
                </c:pt>
                <c:pt idx="13">
                  <c:v>91.079999999999984</c:v>
                </c:pt>
                <c:pt idx="14">
                  <c:v>38.610000000000007</c:v>
                </c:pt>
                <c:pt idx="15">
                  <c:v>67.319999999999993</c:v>
                </c:pt>
                <c:pt idx="16">
                  <c:v>73.260000000000019</c:v>
                </c:pt>
                <c:pt idx="17">
                  <c:v>89.100000000000009</c:v>
                </c:pt>
                <c:pt idx="18">
                  <c:v>255.42000000000007</c:v>
                </c:pt>
                <c:pt idx="19">
                  <c:v>73.260000000000005</c:v>
                </c:pt>
                <c:pt idx="20">
                  <c:v>112.85999999999999</c:v>
                </c:pt>
                <c:pt idx="21">
                  <c:v>79.2</c:v>
                </c:pt>
                <c:pt idx="22">
                  <c:v>48.510000000000005</c:v>
                </c:pt>
                <c:pt idx="23">
                  <c:v>83.16</c:v>
                </c:pt>
                <c:pt idx="24">
                  <c:v>79.2</c:v>
                </c:pt>
                <c:pt idx="25">
                  <c:v>154.44000000000003</c:v>
                </c:pt>
                <c:pt idx="26">
                  <c:v>97.02</c:v>
                </c:pt>
                <c:pt idx="27">
                  <c:v>98.01</c:v>
                </c:pt>
                <c:pt idx="28">
                  <c:v>43.559999999999995</c:v>
                </c:pt>
                <c:pt idx="29">
                  <c:v>64.349999999999994</c:v>
                </c:pt>
                <c:pt idx="30">
                  <c:v>157.41</c:v>
                </c:pt>
                <c:pt idx="31">
                  <c:v>82.17</c:v>
                </c:pt>
                <c:pt idx="32">
                  <c:v>58.410000000000004</c:v>
                </c:pt>
                <c:pt idx="33">
                  <c:v>53.460000000000008</c:v>
                </c:pt>
                <c:pt idx="34">
                  <c:v>94.050000000000011</c:v>
                </c:pt>
                <c:pt idx="35">
                  <c:v>80.190000000000012</c:v>
                </c:pt>
                <c:pt idx="36">
                  <c:v>20.789999999999992</c:v>
                </c:pt>
                <c:pt idx="37">
                  <c:v>67.319999999999993</c:v>
                </c:pt>
                <c:pt idx="38">
                  <c:v>114.83999999999997</c:v>
                </c:pt>
                <c:pt idx="39">
                  <c:v>61.379999999999995</c:v>
                </c:pt>
                <c:pt idx="40">
                  <c:v>102.96000000000001</c:v>
                </c:pt>
                <c:pt idx="41">
                  <c:v>39.6</c:v>
                </c:pt>
                <c:pt idx="42">
                  <c:v>25.74</c:v>
                </c:pt>
                <c:pt idx="43">
                  <c:v>71.28</c:v>
                </c:pt>
                <c:pt idx="44">
                  <c:v>39.6</c:v>
                </c:pt>
                <c:pt idx="45">
                  <c:v>51.48</c:v>
                </c:pt>
                <c:pt idx="46">
                  <c:v>30.689999999999998</c:v>
                </c:pt>
                <c:pt idx="47">
                  <c:v>103.94999999999999</c:v>
                </c:pt>
                <c:pt idx="48">
                  <c:v>63.36</c:v>
                </c:pt>
                <c:pt idx="49">
                  <c:v>70.289999999999992</c:v>
                </c:pt>
                <c:pt idx="50">
                  <c:v>149.49</c:v>
                </c:pt>
                <c:pt idx="51">
                  <c:v>59.400000000000006</c:v>
                </c:pt>
                <c:pt idx="52">
                  <c:v>50.49</c:v>
                </c:pt>
              </c:numCache>
            </c:numRef>
          </c:val>
          <c:extLst>
            <c:ext xmlns:c16="http://schemas.microsoft.com/office/drawing/2014/chart" uri="{C3380CC4-5D6E-409C-BE32-E72D297353CC}">
              <c16:uniqueId val="{00000000-99BC-4E75-B3A7-A0BDAF98D32E}"/>
            </c:ext>
          </c:extLst>
        </c:ser>
        <c:dLbls>
          <c:showLegendKey val="0"/>
          <c:showVal val="0"/>
          <c:showCatName val="0"/>
          <c:showSerName val="0"/>
          <c:showPercent val="0"/>
          <c:showBubbleSize val="0"/>
        </c:dLbls>
        <c:gapWidth val="219"/>
        <c:overlap val="-27"/>
        <c:axId val="590421039"/>
        <c:axId val="590421519"/>
      </c:barChart>
      <c:catAx>
        <c:axId val="59042103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590421519"/>
        <c:crosses val="autoZero"/>
        <c:auto val="1"/>
        <c:lblAlgn val="ctr"/>
        <c:lblOffset val="100"/>
        <c:noMultiLvlLbl val="0"/>
      </c:catAx>
      <c:valAx>
        <c:axId val="590421519"/>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5904210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[customer.csv]Sheet1!PivotTable2</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dirty="0"/>
              <a:t>Global Customer Base by Country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
        <c:idx val="35"/>
        <c:spPr>
          <a:solidFill>
            <a:schemeClr val="accent1"/>
          </a:solidFill>
          <a:ln w="19050">
            <a:solidFill>
              <a:schemeClr val="lt1"/>
            </a:solidFill>
          </a:ln>
          <a:effectLst/>
        </c:spPr>
      </c:pivotFmt>
      <c:pivotFmt>
        <c:idx val="36"/>
        <c:spPr>
          <a:solidFill>
            <a:schemeClr val="accent1"/>
          </a:solidFill>
          <a:ln w="19050">
            <a:solidFill>
              <a:schemeClr val="lt1"/>
            </a:solidFill>
          </a:ln>
          <a:effectLst/>
        </c:spPr>
      </c:pivotFmt>
      <c:pivotFmt>
        <c:idx val="37"/>
        <c:spPr>
          <a:solidFill>
            <a:schemeClr val="accent1"/>
          </a:solidFill>
          <a:ln w="19050">
            <a:solidFill>
              <a:schemeClr val="lt1"/>
            </a:solidFill>
          </a:ln>
          <a:effectLst/>
        </c:spPr>
      </c:pivotFmt>
      <c:pivotFmt>
        <c:idx val="38"/>
        <c:spPr>
          <a:solidFill>
            <a:schemeClr val="accent1"/>
          </a:solidFill>
          <a:ln w="19050">
            <a:solidFill>
              <a:schemeClr val="lt1"/>
            </a:solidFill>
          </a:ln>
          <a:effectLst/>
        </c:spPr>
      </c:pivotFmt>
      <c:pivotFmt>
        <c:idx val="39"/>
        <c:spPr>
          <a:solidFill>
            <a:schemeClr val="accent1"/>
          </a:solidFill>
          <a:ln w="19050">
            <a:solidFill>
              <a:schemeClr val="lt1"/>
            </a:solidFill>
          </a:ln>
          <a:effectLst/>
        </c:spPr>
      </c:pivotFmt>
      <c:pivotFmt>
        <c:idx val="40"/>
        <c:spPr>
          <a:solidFill>
            <a:schemeClr val="accent1"/>
          </a:solidFill>
          <a:ln w="19050">
            <a:solidFill>
              <a:schemeClr val="lt1"/>
            </a:solidFill>
          </a:ln>
          <a:effectLst/>
        </c:spPr>
      </c:pivotFmt>
      <c:pivotFmt>
        <c:idx val="41"/>
        <c:spPr>
          <a:solidFill>
            <a:schemeClr val="accent1"/>
          </a:solidFill>
          <a:ln w="19050">
            <a:solidFill>
              <a:schemeClr val="lt1"/>
            </a:solidFill>
          </a:ln>
          <a:effectLst/>
        </c:spPr>
      </c:pivotFmt>
      <c:pivotFmt>
        <c:idx val="42"/>
        <c:spPr>
          <a:solidFill>
            <a:schemeClr val="accent1"/>
          </a:solidFill>
          <a:ln w="19050">
            <a:solidFill>
              <a:schemeClr val="lt1"/>
            </a:solidFill>
          </a:ln>
          <a:effectLst/>
        </c:spPr>
      </c:pivotFmt>
      <c:pivotFmt>
        <c:idx val="43"/>
        <c:spPr>
          <a:solidFill>
            <a:schemeClr val="accent1"/>
          </a:solidFill>
          <a:ln w="19050">
            <a:solidFill>
              <a:schemeClr val="lt1"/>
            </a:solidFill>
          </a:ln>
          <a:effectLst/>
        </c:spPr>
      </c:pivotFmt>
      <c:pivotFmt>
        <c:idx val="44"/>
        <c:spPr>
          <a:solidFill>
            <a:schemeClr val="accent1"/>
          </a:solidFill>
          <a:ln w="19050">
            <a:solidFill>
              <a:schemeClr val="lt1"/>
            </a:solidFill>
          </a:ln>
          <a:effectLst/>
        </c:spPr>
      </c:pivotFmt>
      <c:pivotFmt>
        <c:idx val="45"/>
        <c:spPr>
          <a:solidFill>
            <a:schemeClr val="accent1"/>
          </a:solidFill>
          <a:ln w="19050">
            <a:solidFill>
              <a:schemeClr val="lt1"/>
            </a:solidFill>
          </a:ln>
          <a:effectLst/>
        </c:spPr>
      </c:pivotFmt>
      <c:pivotFmt>
        <c:idx val="46"/>
        <c:spPr>
          <a:solidFill>
            <a:schemeClr val="accent1"/>
          </a:solidFill>
          <a:ln w="19050">
            <a:solidFill>
              <a:schemeClr val="lt1"/>
            </a:solidFill>
          </a:ln>
          <a:effectLst/>
        </c:spPr>
      </c:pivotFmt>
      <c:pivotFmt>
        <c:idx val="47"/>
        <c:spPr>
          <a:solidFill>
            <a:schemeClr val="accent1"/>
          </a:solidFill>
          <a:ln w="19050">
            <a:solidFill>
              <a:schemeClr val="lt1"/>
            </a:solidFill>
          </a:ln>
          <a:effectLst/>
        </c:spPr>
      </c:pivotFmt>
      <c:pivotFmt>
        <c:idx val="48"/>
        <c:spPr>
          <a:solidFill>
            <a:schemeClr val="accent1"/>
          </a:solidFill>
          <a:ln w="19050">
            <a:solidFill>
              <a:schemeClr val="lt1"/>
            </a:solidFill>
          </a:ln>
          <a:effectLst/>
        </c:spPr>
      </c:pivotFmt>
      <c:pivotFmt>
        <c:idx val="49"/>
        <c:spPr>
          <a:solidFill>
            <a:schemeClr val="accent1"/>
          </a:solidFill>
          <a:ln w="19050">
            <a:solidFill>
              <a:schemeClr val="lt1"/>
            </a:solidFill>
          </a:ln>
          <a:effectLst/>
        </c:spPr>
      </c:pivotFmt>
      <c:pivotFmt>
        <c:idx val="50"/>
        <c:spPr>
          <a:solidFill>
            <a:schemeClr val="accent1"/>
          </a:solidFill>
          <a:ln w="19050">
            <a:solidFill>
              <a:schemeClr val="lt1"/>
            </a:solidFill>
          </a:ln>
          <a:effectLst/>
        </c:spPr>
      </c:pivotFmt>
    </c:pivotFmts>
    <c:plotArea>
      <c:layout/>
      <c:doughnutChart>
        <c:varyColors val="1"/>
        <c:ser>
          <c:idx val="0"/>
          <c:order val="0"/>
          <c:tx>
            <c:strRef>
              <c:f>Sheet1!$B$3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F8F-4F6F-AB17-08B208A4536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F8F-4F6F-AB17-08B208A4536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F8F-4F6F-AB17-08B208A4536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F8F-4F6F-AB17-08B208A4536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DF8F-4F6F-AB17-08B208A4536D}"/>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DF8F-4F6F-AB17-08B208A4536D}"/>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DF8F-4F6F-AB17-08B208A4536D}"/>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DF8F-4F6F-AB17-08B208A4536D}"/>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DF8F-4F6F-AB17-08B208A4536D}"/>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DF8F-4F6F-AB17-08B208A4536D}"/>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DF8F-4F6F-AB17-08B208A4536D}"/>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DF8F-4F6F-AB17-08B208A4536D}"/>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DF8F-4F6F-AB17-08B208A4536D}"/>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DF8F-4F6F-AB17-08B208A4536D}"/>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DF8F-4F6F-AB17-08B208A4536D}"/>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1F-DF8F-4F6F-AB17-08B208A4536D}"/>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DF8F-4F6F-AB17-08B208A4536D}"/>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DF8F-4F6F-AB17-08B208A4536D}"/>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DF8F-4F6F-AB17-08B208A4536D}"/>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DF8F-4F6F-AB17-08B208A4536D}"/>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9-DF8F-4F6F-AB17-08B208A4536D}"/>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2B-DF8F-4F6F-AB17-08B208A4536D}"/>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2D-DF8F-4F6F-AB17-08B208A4536D}"/>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2F-DF8F-4F6F-AB17-08B208A4536D}"/>
              </c:ext>
            </c:extLst>
          </c:dPt>
          <c:cat>
            <c:strRef>
              <c:f>Sheet1!$A$4:$A$28</c:f>
              <c:strCache>
                <c:ptCount val="24"/>
                <c:pt idx="0">
                  <c:v>Argentina</c:v>
                </c:pt>
                <c:pt idx="1">
                  <c:v>Australia</c:v>
                </c:pt>
                <c:pt idx="2">
                  <c:v>Austria</c:v>
                </c:pt>
                <c:pt idx="3">
                  <c:v>Belgium</c:v>
                </c:pt>
                <c:pt idx="4">
                  <c:v>Brazil</c:v>
                </c:pt>
                <c:pt idx="5">
                  <c:v>Canada</c:v>
                </c:pt>
                <c:pt idx="6">
                  <c:v>Chile</c:v>
                </c:pt>
                <c:pt idx="7">
                  <c:v>Czech Republic</c:v>
                </c:pt>
                <c:pt idx="8">
                  <c:v>Denmark</c:v>
                </c:pt>
                <c:pt idx="9">
                  <c:v>Finland</c:v>
                </c:pt>
                <c:pt idx="10">
                  <c:v>France</c:v>
                </c:pt>
                <c:pt idx="11">
                  <c:v>Germany</c:v>
                </c:pt>
                <c:pt idx="12">
                  <c:v>Hungary</c:v>
                </c:pt>
                <c:pt idx="13">
                  <c:v>India</c:v>
                </c:pt>
                <c:pt idx="14">
                  <c:v>Ireland</c:v>
                </c:pt>
                <c:pt idx="15">
                  <c:v>Italy</c:v>
                </c:pt>
                <c:pt idx="16">
                  <c:v>Netherlands</c:v>
                </c:pt>
                <c:pt idx="17">
                  <c:v>Norway</c:v>
                </c:pt>
                <c:pt idx="18">
                  <c:v>Poland</c:v>
                </c:pt>
                <c:pt idx="19">
                  <c:v>Portugal</c:v>
                </c:pt>
                <c:pt idx="20">
                  <c:v>Spain</c:v>
                </c:pt>
                <c:pt idx="21">
                  <c:v>Sweden</c:v>
                </c:pt>
                <c:pt idx="22">
                  <c:v>United Kingdom</c:v>
                </c:pt>
                <c:pt idx="23">
                  <c:v>USA</c:v>
                </c:pt>
              </c:strCache>
            </c:strRef>
          </c:cat>
          <c:val>
            <c:numRef>
              <c:f>Sheet1!$B$4:$B$28</c:f>
              <c:numCache>
                <c:formatCode>General</c:formatCode>
                <c:ptCount val="24"/>
                <c:pt idx="0">
                  <c:v>1</c:v>
                </c:pt>
                <c:pt idx="1">
                  <c:v>1</c:v>
                </c:pt>
                <c:pt idx="2">
                  <c:v>1</c:v>
                </c:pt>
                <c:pt idx="3">
                  <c:v>1</c:v>
                </c:pt>
                <c:pt idx="4">
                  <c:v>5</c:v>
                </c:pt>
                <c:pt idx="5">
                  <c:v>8</c:v>
                </c:pt>
                <c:pt idx="6">
                  <c:v>1</c:v>
                </c:pt>
                <c:pt idx="7">
                  <c:v>2</c:v>
                </c:pt>
                <c:pt idx="8">
                  <c:v>1</c:v>
                </c:pt>
                <c:pt idx="9">
                  <c:v>1</c:v>
                </c:pt>
                <c:pt idx="10">
                  <c:v>5</c:v>
                </c:pt>
                <c:pt idx="11">
                  <c:v>4</c:v>
                </c:pt>
                <c:pt idx="12">
                  <c:v>1</c:v>
                </c:pt>
                <c:pt idx="13">
                  <c:v>2</c:v>
                </c:pt>
                <c:pt idx="14">
                  <c:v>1</c:v>
                </c:pt>
                <c:pt idx="15">
                  <c:v>1</c:v>
                </c:pt>
                <c:pt idx="16">
                  <c:v>1</c:v>
                </c:pt>
                <c:pt idx="17">
                  <c:v>1</c:v>
                </c:pt>
                <c:pt idx="18">
                  <c:v>1</c:v>
                </c:pt>
                <c:pt idx="19">
                  <c:v>2</c:v>
                </c:pt>
                <c:pt idx="20">
                  <c:v>1</c:v>
                </c:pt>
                <c:pt idx="21">
                  <c:v>1</c:v>
                </c:pt>
                <c:pt idx="22">
                  <c:v>3</c:v>
                </c:pt>
                <c:pt idx="23">
                  <c:v>13</c:v>
                </c:pt>
              </c:numCache>
            </c:numRef>
          </c:val>
          <c:extLst>
            <c:ext xmlns:c16="http://schemas.microsoft.com/office/drawing/2014/chart" uri="{C3380CC4-5D6E-409C-BE32-E72D297353CC}">
              <c16:uniqueId val="{00000030-DF8F-4F6F-AB17-08B208A4536D}"/>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a:t>
            </a:r>
            <a:r>
              <a:rPr lang="en-US" dirty="0" err="1"/>
              <a:t>yuanyuan</a:t>
            </a:r>
            <a:r>
              <a:rPr lang="en-US" dirty="0"/>
              <a:t>, you can call me coco. Today, I am excited to present my SQL business analytics project for a global digital music store as part of the </a:t>
            </a:r>
            <a:r>
              <a:rPr lang="en-US" dirty="0" err="1"/>
              <a:t>Ededge</a:t>
            </a:r>
            <a:r>
              <a:rPr lang="en-US" dirty="0"/>
              <a:t> Groups Industry engagement program. Let’s dive right into our core business volume and transaction metrics.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Starting with our macroeconomic market overview on Slide 2. By leveraging our grouping logic across the transactional database, our query reveals that the United States is our primary market hub, leading with ninety-one invoices. Canada and Brazil fill out the subsequent tiers. Looking specifically at high-value milestones in Task 3, our data isolates our peak single-order purchase maximum hitting twenty-three dollars and seventy-six cents, showing strong commercial performance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Next, we isolated geographic revenue and individual customer lifetime value. As seen in the visual layout, our query isolated Prague as the undisputed highest revenue-generating city across our global platform, bringing in a total of two hundred and seventy-three dollars and twenty-four cents in gross sales. Additionally, we identified our top customer profile, František </a:t>
            </a:r>
            <a:r>
              <a:rPr lang="en-CA" dirty="0" err="1"/>
              <a:t>Wichterlová</a:t>
            </a:r>
            <a:r>
              <a:rPr lang="en-CA" dirty="0"/>
              <a:t>, who has contributed one hundred and forty-four dollars and fifty-four cents individually. This gives us clear target zones for high-value loyalty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Moving on to internal operations and audience segmentation. Our first query quickly mapped our internal staff hierarchy to find that Andrew Adams holds the senior-most tier within the organization as General Manager. Shifting to customer content demographics, I deployed a five-table relational JOIN to link user profiles directly to active genres. This successfully extracted a clean, automated database of active Rock music listeners, allowing us to deploy hyper-targeted promotional campaigns without wasting marketing capital on disinterested demographics.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t>
            </a:r>
            <a:r>
              <a:rPr lang="en-CA" dirty="0"/>
              <a:t>or our track duration evaluation on Slide 5, I implemented an inline SQL subquery to dynamically calculate our platform's average song length, which settles at roughly six and a half minutes. As mapped out in our orange data chart, iconic long-form tracks like Led Zeppelin's 'How Many More Times' heavily exceed this baseline. This proves a high concentration of long-form progressive audio content within our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On Slide 6, we tackle our most complex structural query. By nesting an SQL Window Function inside a Common Table Expression, we evaluated </a:t>
            </a:r>
            <a:r>
              <a:rPr lang="en-CA" b="1" dirty="0"/>
              <a:t>consumer genre affinities </a:t>
            </a:r>
            <a:r>
              <a:rPr lang="en-CA" dirty="0"/>
              <a:t>across international borders. As visualized in our global customer distribution chart, Rock music ranks as the </a:t>
            </a:r>
            <a:r>
              <a:rPr lang="en-CA" b="1" dirty="0"/>
              <a:t>undisputed number-one genre </a:t>
            </a:r>
            <a:r>
              <a:rPr lang="en-CA" dirty="0"/>
              <a:t>globally. Relational tracking verifies that Rock music serves as our primary global consumer acquisition funnel, meaning content licensing budgets </a:t>
            </a:r>
            <a:r>
              <a:rPr lang="en-CA" b="1" dirty="0"/>
              <a:t>should heavily prioritize premium </a:t>
            </a:r>
            <a:r>
              <a:rPr lang="en-CA" dirty="0"/>
              <a:t>rock catalogs.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CA" dirty="0"/>
              <a:t>o conclude, I have three strategic recommendations for the </a:t>
            </a:r>
            <a:r>
              <a:rPr lang="en-CA" b="1" dirty="0"/>
              <a:t>executive</a:t>
            </a:r>
            <a:r>
              <a:rPr lang="en-CA" dirty="0"/>
              <a:t> team. First, reallocate 15% of marketing capital toward hyper-local ads in Prague. Second, launch </a:t>
            </a:r>
            <a:r>
              <a:rPr lang="en-CA" b="1" dirty="0"/>
              <a:t>an exclusive VIP Tier Program </a:t>
            </a:r>
            <a:r>
              <a:rPr lang="en-CA" dirty="0"/>
              <a:t>to maximize </a:t>
            </a:r>
            <a:r>
              <a:rPr lang="en-CA" b="1" dirty="0"/>
              <a:t>retention </a:t>
            </a:r>
            <a:r>
              <a:rPr lang="en-CA" dirty="0"/>
              <a:t>among high-value spenders like František. And finally, expand our long-form </a:t>
            </a:r>
            <a:r>
              <a:rPr lang="en-CA" b="1" dirty="0"/>
              <a:t>rock music track licensing</a:t>
            </a:r>
            <a:r>
              <a:rPr lang="en-CA" dirty="0"/>
              <a:t> to sustain our core platform engagement. Thank you so much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714"/>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2194560"/>
          </a:xfrm>
          <a:prstGeom prst="rect">
            <a:avLst/>
          </a:prstGeom>
          <a:noFill/>
          <a:ln/>
        </p:spPr>
        <p:txBody>
          <a:bodyPr wrap="square" lIns="0" tIns="0" rIns="0" bIns="0" rtlCol="0" anchor="t"/>
          <a:lstStyle/>
          <a:p>
            <a:pPr marL="0" indent="0" algn="l">
              <a:lnSpc>
                <a:spcPct val="110000"/>
              </a:lnSpc>
              <a:buNone/>
            </a:pPr>
            <a:r>
              <a:rPr lang="en-US" sz="4000" b="1" dirty="0">
                <a:solidFill>
                  <a:srgbClr val="FDF6EC"/>
                </a:solidFill>
                <a:latin typeface="Georgia" pitchFamily="34" charset="0"/>
                <a:ea typeface="Georgia" pitchFamily="34" charset="-122"/>
                <a:cs typeface="Georgia" pitchFamily="34" charset="-120"/>
              </a:rPr>
              <a:t>Data-Driven Retail Analytics: Digital Music Store Optimization using SQL</a:t>
            </a:r>
            <a:endParaRPr lang="en-US" sz="4000" dirty="0"/>
          </a:p>
        </p:txBody>
      </p:sp>
      <p:sp>
        <p:nvSpPr>
          <p:cNvPr id="3" name="Text 1"/>
          <p:cNvSpPr/>
          <p:nvPr/>
        </p:nvSpPr>
        <p:spPr>
          <a:xfrm>
            <a:off x="731520" y="3017520"/>
            <a:ext cx="6858000" cy="457200"/>
          </a:xfrm>
          <a:prstGeom prst="rect">
            <a:avLst/>
          </a:prstGeom>
          <a:noFill/>
          <a:ln/>
        </p:spPr>
        <p:txBody>
          <a:bodyPr wrap="square" lIns="0" tIns="0" rIns="0" bIns="0" rtlCol="0" anchor="ctr"/>
          <a:lstStyle/>
          <a:p>
            <a:pPr marL="0" indent="0" algn="l">
              <a:buNone/>
            </a:pPr>
            <a:r>
              <a:rPr lang="en-US" i="1" dirty="0" err="1">
                <a:solidFill>
                  <a:srgbClr val="D4A853"/>
                </a:solidFill>
                <a:latin typeface="Calibri" pitchFamily="34" charset="0"/>
                <a:ea typeface="Calibri" pitchFamily="34" charset="-122"/>
                <a:cs typeface="Calibri" pitchFamily="34" charset="-120"/>
              </a:rPr>
              <a:t>Ededge</a:t>
            </a:r>
            <a:r>
              <a:rPr lang="en-US" i="1" dirty="0">
                <a:solidFill>
                  <a:srgbClr val="D4A853"/>
                </a:solidFill>
                <a:latin typeface="Calibri" pitchFamily="34" charset="0"/>
                <a:ea typeface="Calibri" pitchFamily="34" charset="-122"/>
                <a:cs typeface="Calibri" pitchFamily="34" charset="-120"/>
              </a:rPr>
              <a:t> Groups Industry Engagement Program (EGIEP) Capstone Project</a:t>
            </a:r>
            <a:endParaRPr lang="en-US" sz="1800" dirty="0"/>
          </a:p>
        </p:txBody>
      </p:sp>
      <p:sp>
        <p:nvSpPr>
          <p:cNvPr id="4" name="Shape 2"/>
          <p:cNvSpPr/>
          <p:nvPr/>
        </p:nvSpPr>
        <p:spPr>
          <a:xfrm>
            <a:off x="731520" y="3840480"/>
            <a:ext cx="1097280" cy="54864"/>
          </a:xfrm>
          <a:prstGeom prst="rect">
            <a:avLst/>
          </a:prstGeom>
          <a:solidFill>
            <a:srgbClr val="E8734A"/>
          </a:solidFill>
          <a:ln/>
        </p:spPr>
        <p:txBody>
          <a:bodyPr/>
          <a:lstStyle/>
          <a:p>
            <a:endParaRPr lang="en-CA"/>
          </a:p>
        </p:txBody>
      </p:sp>
      <p:sp>
        <p:nvSpPr>
          <p:cNvPr id="5" name="Text 3"/>
          <p:cNvSpPr/>
          <p:nvPr/>
        </p:nvSpPr>
        <p:spPr>
          <a:xfrm>
            <a:off x="731520" y="4297680"/>
            <a:ext cx="7315200" cy="365760"/>
          </a:xfrm>
          <a:prstGeom prst="rect">
            <a:avLst/>
          </a:prstGeom>
          <a:noFill/>
          <a:ln/>
        </p:spPr>
        <p:txBody>
          <a:bodyPr wrap="square" lIns="0" tIns="0" rIns="0" bIns="0" rtlCol="0" anchor="ctr"/>
          <a:lstStyle/>
          <a:p>
            <a:pPr marL="0" indent="0" algn="l">
              <a:buNone/>
            </a:pPr>
            <a:r>
              <a:rPr lang="en-US" sz="1100" dirty="0">
                <a:solidFill>
                  <a:srgbClr val="8C8478"/>
                </a:solidFill>
                <a:latin typeface="Calibri" pitchFamily="34" charset="0"/>
                <a:ea typeface="Calibri" pitchFamily="34" charset="-122"/>
                <a:cs typeface="Calibri" pitchFamily="34" charset="-120"/>
              </a:rPr>
              <a:t>Frameworks Used: MySQL, Microsoft Excel, Microsoft PowerPoint</a:t>
            </a:r>
            <a:endParaRPr lang="en-US" sz="1100" dirty="0"/>
          </a:p>
        </p:txBody>
      </p:sp>
      <p:sp>
        <p:nvSpPr>
          <p:cNvPr id="6" name="Shape 4"/>
          <p:cNvSpPr/>
          <p:nvPr/>
        </p:nvSpPr>
        <p:spPr>
          <a:xfrm>
            <a:off x="7438432" y="1616264"/>
            <a:ext cx="1280160" cy="1280160"/>
          </a:xfrm>
          <a:prstGeom prst="ellipse">
            <a:avLst/>
          </a:prstGeom>
          <a:solidFill>
            <a:srgbClr val="D4A853">
              <a:alpha val="80000"/>
            </a:srgbClr>
          </a:solidFill>
          <a:ln/>
        </p:spPr>
        <p:txBody>
          <a:bodyPr/>
          <a:lstStyle/>
          <a:p>
            <a:endParaRPr lang="en-CA"/>
          </a:p>
        </p:txBody>
      </p:sp>
      <p:sp>
        <p:nvSpPr>
          <p:cNvPr id="7" name="Shape 5"/>
          <p:cNvSpPr/>
          <p:nvPr/>
        </p:nvSpPr>
        <p:spPr>
          <a:xfrm>
            <a:off x="8078512" y="2437988"/>
            <a:ext cx="731520" cy="731520"/>
          </a:xfrm>
          <a:prstGeom prst="ellipse">
            <a:avLst/>
          </a:prstGeom>
          <a:solidFill>
            <a:srgbClr val="E8734A">
              <a:alpha val="70000"/>
            </a:srgbClr>
          </a:solidFill>
          <a:ln/>
        </p:spPr>
        <p:txBody>
          <a:bodyPr/>
          <a:lstStyle/>
          <a:p>
            <a:endParaRPr lang="en-CA"/>
          </a:p>
        </p:txBody>
      </p:sp>
      <p:sp>
        <p:nvSpPr>
          <p:cNvPr id="8" name="Text 3">
            <a:extLst>
              <a:ext uri="{FF2B5EF4-FFF2-40B4-BE49-F238E27FC236}">
                <a16:creationId xmlns:a16="http://schemas.microsoft.com/office/drawing/2014/main" id="{6CDECF1B-6ABA-2F10-24C0-B3E247051434}"/>
              </a:ext>
            </a:extLst>
          </p:cNvPr>
          <p:cNvSpPr/>
          <p:nvPr/>
        </p:nvSpPr>
        <p:spPr>
          <a:xfrm>
            <a:off x="731520" y="3964048"/>
            <a:ext cx="7315200" cy="365760"/>
          </a:xfrm>
          <a:prstGeom prst="rect">
            <a:avLst/>
          </a:prstGeom>
          <a:noFill/>
          <a:ln/>
        </p:spPr>
        <p:txBody>
          <a:bodyPr wrap="square" lIns="0" tIns="0" rIns="0" bIns="0" rtlCol="0" anchor="ctr"/>
          <a:lstStyle/>
          <a:p>
            <a:pPr marL="0" indent="0" algn="l">
              <a:buNone/>
            </a:pPr>
            <a:r>
              <a:rPr lang="en-US" sz="1100" dirty="0">
                <a:solidFill>
                  <a:srgbClr val="8C8478"/>
                </a:solidFill>
                <a:latin typeface="Calibri" pitchFamily="34" charset="0"/>
                <a:ea typeface="Calibri" pitchFamily="34" charset="-122"/>
                <a:cs typeface="Calibri" pitchFamily="34" charset="-120"/>
              </a:rPr>
              <a:t>Yuanyuan Wei (COCO)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C"/>
        </a:solidFill>
        <a:effectLst/>
      </p:bgPr>
    </p:bg>
    <p:spTree>
      <p:nvGrpSpPr>
        <p:cNvPr id="1" name=""/>
        <p:cNvGrpSpPr/>
        <p:nvPr/>
      </p:nvGrpSpPr>
      <p:grpSpPr>
        <a:xfrm>
          <a:off x="0" y="0"/>
          <a:ext cx="0" cy="0"/>
          <a:chOff x="0" y="0"/>
          <a:chExt cx="0" cy="0"/>
        </a:xfrm>
      </p:grpSpPr>
      <p:sp>
        <p:nvSpPr>
          <p:cNvPr id="2" name="Text 0"/>
          <p:cNvSpPr/>
          <p:nvPr/>
        </p:nvSpPr>
        <p:spPr>
          <a:xfrm>
            <a:off x="731520" y="395416"/>
            <a:ext cx="7315200" cy="640080"/>
          </a:xfrm>
          <a:prstGeom prst="rect">
            <a:avLst/>
          </a:prstGeom>
          <a:noFill/>
          <a:ln/>
        </p:spPr>
        <p:txBody>
          <a:bodyPr wrap="square" lIns="0" tIns="0" rIns="0" bIns="0" rtlCol="0" anchor="ctr"/>
          <a:lstStyle/>
          <a:p>
            <a:pPr marL="0" indent="0" algn="l">
              <a:buNone/>
            </a:pPr>
            <a:r>
              <a:rPr lang="en-US" sz="2800" b="1" dirty="0">
                <a:solidFill>
                  <a:srgbClr val="2D2A26"/>
                </a:solidFill>
                <a:latin typeface="Georgia" pitchFamily="34" charset="0"/>
              </a:rPr>
              <a:t>Global Sales Volume &amp; High-Value Transactions </a:t>
            </a:r>
            <a:endParaRPr lang="en-US" sz="2800" dirty="0"/>
          </a:p>
        </p:txBody>
      </p:sp>
      <p:sp>
        <p:nvSpPr>
          <p:cNvPr id="3" name="Text 1"/>
          <p:cNvSpPr/>
          <p:nvPr/>
        </p:nvSpPr>
        <p:spPr>
          <a:xfrm>
            <a:off x="731520" y="1035496"/>
            <a:ext cx="7315200" cy="365760"/>
          </a:xfrm>
          <a:prstGeom prst="rect">
            <a:avLst/>
          </a:prstGeom>
          <a:noFill/>
          <a:ln/>
        </p:spPr>
        <p:txBody>
          <a:bodyPr wrap="square" lIns="0" tIns="0" rIns="0" bIns="0" rtlCol="0" anchor="ctr"/>
          <a:lstStyle/>
          <a:p>
            <a:pPr marL="0" indent="0" algn="l">
              <a:buNone/>
            </a:pPr>
            <a:r>
              <a:rPr lang="en-US" sz="1300" i="1" dirty="0">
                <a:solidFill>
                  <a:srgbClr val="8C8478"/>
                </a:solidFill>
                <a:latin typeface="Calibri" pitchFamily="34" charset="0"/>
                <a:ea typeface="Calibri" pitchFamily="34" charset="-122"/>
                <a:cs typeface="Calibri" pitchFamily="34" charset="-120"/>
              </a:rPr>
              <a:t>Global Sales Volume &amp; Transaction Trends</a:t>
            </a:r>
            <a:endParaRPr lang="en-US" sz="1300" dirty="0"/>
          </a:p>
        </p:txBody>
      </p:sp>
      <p:pic>
        <p:nvPicPr>
          <p:cNvPr id="30" name="Picture 29" descr="The diagram displays a SQL query that selects the billing country and counts the number of invoices per country, grouping the results by country and ordering them in descending order by count.&#10;&#10;AI-generated content may be incorrect.">
            <a:extLst>
              <a:ext uri="{FF2B5EF4-FFF2-40B4-BE49-F238E27FC236}">
                <a16:creationId xmlns:a16="http://schemas.microsoft.com/office/drawing/2014/main" id="{B0950A19-6A2F-5327-AE4C-70CAC58A2E28}"/>
              </a:ext>
            </a:extLst>
          </p:cNvPr>
          <p:cNvPicPr>
            <a:picLocks noChangeAspect="1"/>
          </p:cNvPicPr>
          <p:nvPr/>
        </p:nvPicPr>
        <p:blipFill>
          <a:blip r:embed="rId3"/>
          <a:srcRect l="12071" t="39894" r="11519" b="25365"/>
          <a:stretch>
            <a:fillRect/>
          </a:stretch>
        </p:blipFill>
        <p:spPr>
          <a:xfrm>
            <a:off x="4057452" y="1669432"/>
            <a:ext cx="4485503" cy="902318"/>
          </a:xfrm>
          <a:prstGeom prst="rect">
            <a:avLst/>
          </a:prstGeom>
        </p:spPr>
      </p:pic>
      <p:pic>
        <p:nvPicPr>
          <p:cNvPr id="32" name="Picture 31" descr="SELECT total FROM invoice ORDER BY total DESC LIMIT 3;&#10;&#10;AI-generated content may be incorrect.">
            <a:extLst>
              <a:ext uri="{FF2B5EF4-FFF2-40B4-BE49-F238E27FC236}">
                <a16:creationId xmlns:a16="http://schemas.microsoft.com/office/drawing/2014/main" id="{B77AAAF7-5580-654E-B6C1-51F84804FBF3}"/>
              </a:ext>
            </a:extLst>
          </p:cNvPr>
          <p:cNvPicPr>
            <a:picLocks noChangeAspect="1"/>
          </p:cNvPicPr>
          <p:nvPr/>
        </p:nvPicPr>
        <p:blipFill>
          <a:blip r:embed="rId4"/>
          <a:srcRect l="19336" t="39599" r="20463" b="26027"/>
          <a:stretch>
            <a:fillRect/>
          </a:stretch>
        </p:blipFill>
        <p:spPr>
          <a:xfrm>
            <a:off x="1188769" y="3696335"/>
            <a:ext cx="1751288" cy="793021"/>
          </a:xfrm>
          <a:prstGeom prst="rect">
            <a:avLst/>
          </a:prstGeom>
        </p:spPr>
      </p:pic>
      <p:sp>
        <p:nvSpPr>
          <p:cNvPr id="33" name="TextBox 32">
            <a:extLst>
              <a:ext uri="{FF2B5EF4-FFF2-40B4-BE49-F238E27FC236}">
                <a16:creationId xmlns:a16="http://schemas.microsoft.com/office/drawing/2014/main" id="{A60D487B-CE67-7199-A8A2-1B475B8BF6D6}"/>
              </a:ext>
            </a:extLst>
          </p:cNvPr>
          <p:cNvSpPr txBox="1"/>
          <p:nvPr/>
        </p:nvSpPr>
        <p:spPr>
          <a:xfrm>
            <a:off x="798132" y="1486837"/>
            <a:ext cx="2938437" cy="2046714"/>
          </a:xfrm>
          <a:prstGeom prst="rect">
            <a:avLst/>
          </a:prstGeom>
          <a:solidFill>
            <a:srgbClr val="FDDFE4"/>
          </a:solidFill>
        </p:spPr>
        <p:txBody>
          <a:bodyPr wrap="square" rtlCol="0">
            <a:spAutoFit/>
          </a:bodyPr>
          <a:lstStyle/>
          <a:p>
            <a:r>
              <a:rPr lang="en-US" b="1" dirty="0">
                <a:solidFill>
                  <a:schemeClr val="accent2">
                    <a:lumMod val="75000"/>
                  </a:schemeClr>
                </a:solidFill>
              </a:rPr>
              <a:t>The Main List Block</a:t>
            </a:r>
          </a:p>
          <a:p>
            <a:endParaRPr lang="en-US" sz="1100" dirty="0"/>
          </a:p>
          <a:p>
            <a:pPr marL="285750" indent="-285750">
              <a:buFont typeface="Arial" panose="020B0604020202020204" pitchFamily="34" charset="0"/>
              <a:buChar char="•"/>
            </a:pPr>
            <a:r>
              <a:rPr lang="en-US" sz="1100" dirty="0">
                <a:solidFill>
                  <a:schemeClr val="accent2">
                    <a:lumMod val="75000"/>
                  </a:schemeClr>
                </a:solidFill>
              </a:rPr>
              <a:t>Market Leader: The United States is our largest active market hub, leading with 131 total invoices. </a:t>
            </a:r>
          </a:p>
          <a:p>
            <a:pPr marL="285750" indent="-285750">
              <a:buFont typeface="Arial" panose="020B0604020202020204" pitchFamily="34" charset="0"/>
              <a:buChar char="•"/>
            </a:pPr>
            <a:r>
              <a:rPr lang="en-US" sz="1100" dirty="0">
                <a:solidFill>
                  <a:schemeClr val="accent2">
                    <a:lumMod val="75000"/>
                  </a:schemeClr>
                </a:solidFill>
              </a:rPr>
              <a:t>Secondary Density: Canada tracks right behind in second place with 76 invoices, followed closely by Brazil with 61 invoices. </a:t>
            </a:r>
          </a:p>
          <a:p>
            <a:pPr marL="285750" indent="-285750">
              <a:buFont typeface="Arial" panose="020B0604020202020204" pitchFamily="34" charset="0"/>
              <a:buChar char="•"/>
            </a:pPr>
            <a:r>
              <a:rPr lang="en-US" sz="1100" dirty="0">
                <a:solidFill>
                  <a:schemeClr val="accent2">
                    <a:lumMod val="75000"/>
                  </a:schemeClr>
                </a:solidFill>
              </a:rPr>
              <a:t>Business Insight: Core customer acquisition is strongly concentrated across North and South American regions </a:t>
            </a:r>
            <a:endParaRPr lang="en-CA" sz="1100" dirty="0">
              <a:solidFill>
                <a:schemeClr val="accent2">
                  <a:lumMod val="75000"/>
                </a:schemeClr>
              </a:solidFill>
            </a:endParaRPr>
          </a:p>
        </p:txBody>
      </p:sp>
      <p:sp>
        <p:nvSpPr>
          <p:cNvPr id="34" name="TextBox 33">
            <a:extLst>
              <a:ext uri="{FF2B5EF4-FFF2-40B4-BE49-F238E27FC236}">
                <a16:creationId xmlns:a16="http://schemas.microsoft.com/office/drawing/2014/main" id="{8710B58A-BEA1-8D46-CDB1-EE545D937475}"/>
              </a:ext>
            </a:extLst>
          </p:cNvPr>
          <p:cNvSpPr txBox="1"/>
          <p:nvPr/>
        </p:nvSpPr>
        <p:spPr>
          <a:xfrm>
            <a:off x="4245831" y="3104361"/>
            <a:ext cx="3800889" cy="1384995"/>
          </a:xfrm>
          <a:prstGeom prst="rect">
            <a:avLst/>
          </a:prstGeom>
          <a:solidFill>
            <a:schemeClr val="accent3">
              <a:lumMod val="20000"/>
              <a:lumOff val="80000"/>
            </a:schemeClr>
          </a:solidFill>
        </p:spPr>
        <p:txBody>
          <a:bodyPr wrap="square" rtlCol="0">
            <a:spAutoFit/>
          </a:bodyPr>
          <a:lstStyle/>
          <a:p>
            <a:r>
              <a:rPr lang="en-US" b="1" dirty="0">
                <a:solidFill>
                  <a:srgbClr val="0070C0"/>
                </a:solidFill>
              </a:rPr>
              <a:t>The Metric Highlight Cards</a:t>
            </a:r>
          </a:p>
          <a:p>
            <a:endParaRPr lang="en-US" sz="1100" dirty="0"/>
          </a:p>
          <a:p>
            <a:pPr marL="285750" indent="-285750">
              <a:buFont typeface="Arial" panose="020B0604020202020204" pitchFamily="34" charset="0"/>
              <a:buChar char="•"/>
            </a:pPr>
            <a:r>
              <a:rPr lang="en-US" sz="1100" dirty="0">
                <a:solidFill>
                  <a:srgbClr val="0070C0"/>
                </a:solidFill>
              </a:rPr>
              <a:t>Card 1: $23.76  </a:t>
            </a:r>
            <a:r>
              <a:rPr lang="en-US" sz="1000" dirty="0">
                <a:solidFill>
                  <a:schemeClr val="tx2">
                    <a:lumMod val="60000"/>
                    <a:lumOff val="40000"/>
                  </a:schemeClr>
                </a:solidFill>
              </a:rPr>
              <a:t>(1</a:t>
            </a:r>
            <a:r>
              <a:rPr lang="en-US" sz="1000" baseline="30000" dirty="0">
                <a:solidFill>
                  <a:schemeClr val="tx2">
                    <a:lumMod val="60000"/>
                    <a:lumOff val="40000"/>
                  </a:schemeClr>
                </a:solidFill>
              </a:rPr>
              <a:t>st</a:t>
            </a:r>
            <a:r>
              <a:rPr lang="en-US" sz="1000" dirty="0">
                <a:solidFill>
                  <a:schemeClr val="tx2">
                    <a:lumMod val="60000"/>
                    <a:lumOff val="40000"/>
                  </a:schemeClr>
                </a:solidFill>
              </a:rPr>
              <a:t> Peak Order Milestone)</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r>
              <a:rPr lang="en-US" sz="1100" dirty="0">
                <a:solidFill>
                  <a:srgbClr val="0070C0"/>
                </a:solidFill>
              </a:rPr>
              <a:t>Card 2: $19.80  </a:t>
            </a:r>
            <a:r>
              <a:rPr lang="en-US" sz="1000" dirty="0">
                <a:solidFill>
                  <a:schemeClr val="tx2">
                    <a:lumMod val="60000"/>
                    <a:lumOff val="40000"/>
                  </a:schemeClr>
                </a:solidFill>
              </a:rPr>
              <a:t>(2</a:t>
            </a:r>
            <a:r>
              <a:rPr lang="en-US" sz="1000" baseline="30000" dirty="0">
                <a:solidFill>
                  <a:schemeClr val="tx2">
                    <a:lumMod val="60000"/>
                    <a:lumOff val="40000"/>
                  </a:schemeClr>
                </a:solidFill>
              </a:rPr>
              <a:t>nd</a:t>
            </a:r>
            <a:r>
              <a:rPr lang="en-US" sz="1000" dirty="0">
                <a:solidFill>
                  <a:schemeClr val="tx2">
                    <a:lumMod val="60000"/>
                    <a:lumOff val="40000"/>
                  </a:schemeClr>
                </a:solidFill>
              </a:rPr>
              <a:t> Peak Order Milestone)</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r>
              <a:rPr lang="en-US" sz="1100" dirty="0">
                <a:solidFill>
                  <a:srgbClr val="0070C0"/>
                </a:solidFill>
              </a:rPr>
              <a:t>Card 3: $19.80  </a:t>
            </a:r>
            <a:r>
              <a:rPr lang="en-US" sz="1000" dirty="0">
                <a:solidFill>
                  <a:schemeClr val="tx2">
                    <a:lumMod val="60000"/>
                    <a:lumOff val="40000"/>
                  </a:schemeClr>
                </a:solidFill>
              </a:rPr>
              <a:t>(3</a:t>
            </a:r>
            <a:r>
              <a:rPr lang="en-US" sz="1000" baseline="30000" dirty="0">
                <a:solidFill>
                  <a:schemeClr val="tx2">
                    <a:lumMod val="60000"/>
                    <a:lumOff val="40000"/>
                  </a:schemeClr>
                </a:solidFill>
              </a:rPr>
              <a:t>rd</a:t>
            </a:r>
            <a:r>
              <a:rPr lang="en-US" sz="1000" dirty="0">
                <a:solidFill>
                  <a:schemeClr val="tx2">
                    <a:lumMod val="60000"/>
                    <a:lumOff val="40000"/>
                  </a:schemeClr>
                </a:solidFill>
              </a:rPr>
              <a:t> Peak Order Milestone)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E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lgn="l">
              <a:buNone/>
            </a:pPr>
            <a:r>
              <a:rPr lang="en-US" sz="2800" b="1" dirty="0">
                <a:solidFill>
                  <a:srgbClr val="2D2A26"/>
                </a:solidFill>
                <a:latin typeface="Georgia" pitchFamily="34" charset="0"/>
              </a:rPr>
              <a:t>Top Revenue Markets &amp; High-Value Customer Profiling</a:t>
            </a:r>
            <a:endParaRPr lang="en-US" sz="2800" dirty="0"/>
          </a:p>
        </p:txBody>
      </p:sp>
      <p:sp>
        <p:nvSpPr>
          <p:cNvPr id="3" name="Text 1"/>
          <p:cNvSpPr/>
          <p:nvPr/>
        </p:nvSpPr>
        <p:spPr>
          <a:xfrm>
            <a:off x="731520" y="995172"/>
            <a:ext cx="7315200" cy="320040"/>
          </a:xfrm>
          <a:prstGeom prst="rect">
            <a:avLst/>
          </a:prstGeom>
          <a:noFill/>
          <a:ln/>
        </p:spPr>
        <p:txBody>
          <a:bodyPr wrap="square" lIns="0" tIns="0" rIns="0" bIns="0" rtlCol="0" anchor="ctr"/>
          <a:lstStyle/>
          <a:p>
            <a:pPr marL="0" indent="0" algn="l">
              <a:buNone/>
            </a:pPr>
            <a:r>
              <a:rPr lang="en-US" sz="1300" i="1" dirty="0">
                <a:solidFill>
                  <a:srgbClr val="8C8478"/>
                </a:solidFill>
                <a:latin typeface="Calibri" pitchFamily="34" charset="0"/>
                <a:ea typeface="Calibri" pitchFamily="34" charset="-122"/>
                <a:cs typeface="Calibri" pitchFamily="34" charset="-120"/>
              </a:rPr>
              <a:t>Top Revenue Cities &amp; High-Value Customers</a:t>
            </a:r>
            <a:endParaRPr lang="en-US" sz="1300" dirty="0"/>
          </a:p>
        </p:txBody>
      </p:sp>
      <p:sp>
        <p:nvSpPr>
          <p:cNvPr id="5" name="Shape 2"/>
          <p:cNvSpPr/>
          <p:nvPr/>
        </p:nvSpPr>
        <p:spPr>
          <a:xfrm>
            <a:off x="731520" y="1446486"/>
            <a:ext cx="6432289" cy="2091382"/>
          </a:xfrm>
          <a:prstGeom prst="rect">
            <a:avLst/>
          </a:prstGeom>
          <a:gradFill flip="none" rotWithShape="1">
            <a:gsLst>
              <a:gs pos="0">
                <a:srgbClr val="E1C9A3">
                  <a:tint val="66000"/>
                  <a:satMod val="160000"/>
                </a:srgbClr>
              </a:gs>
              <a:gs pos="50000">
                <a:srgbClr val="E1C9A3">
                  <a:tint val="44500"/>
                  <a:satMod val="160000"/>
                </a:srgbClr>
              </a:gs>
              <a:gs pos="100000">
                <a:srgbClr val="E1C9A3">
                  <a:tint val="23500"/>
                  <a:satMod val="160000"/>
                </a:srgbClr>
              </a:gs>
            </a:gsLst>
            <a:path path="circle">
              <a:fillToRect t="100000" r="100000"/>
            </a:path>
            <a:tileRect l="-100000" b="-100000"/>
          </a:gradFill>
          <a:ln/>
        </p:spPr>
        <p:txBody>
          <a:bodyPr/>
          <a:lstStyle/>
          <a:p>
            <a:endParaRPr lang="en-CA"/>
          </a:p>
        </p:txBody>
      </p:sp>
      <p:sp>
        <p:nvSpPr>
          <p:cNvPr id="6" name="Text 3"/>
          <p:cNvSpPr/>
          <p:nvPr/>
        </p:nvSpPr>
        <p:spPr>
          <a:xfrm>
            <a:off x="794248" y="1420180"/>
            <a:ext cx="2468880" cy="365760"/>
          </a:xfrm>
          <a:prstGeom prst="rect">
            <a:avLst/>
          </a:prstGeom>
          <a:noFill/>
          <a:ln/>
        </p:spPr>
        <p:txBody>
          <a:bodyPr wrap="square" lIns="0" tIns="0" rIns="0" bIns="0" rtlCol="0" anchor="ctr"/>
          <a:lstStyle/>
          <a:p>
            <a:pPr marL="0" indent="0">
              <a:buNone/>
            </a:pPr>
            <a:r>
              <a:rPr lang="en-US" sz="1600" b="1" dirty="0">
                <a:solidFill>
                  <a:srgbClr val="2D2A26"/>
                </a:solidFill>
                <a:latin typeface="Georgia" pitchFamily="34" charset="0"/>
                <a:ea typeface="Georgia" pitchFamily="34" charset="-122"/>
                <a:cs typeface="Georgia" pitchFamily="34" charset="-120"/>
              </a:rPr>
              <a:t>Key Insights</a:t>
            </a:r>
            <a:endParaRPr lang="en-US" sz="1600" dirty="0"/>
          </a:p>
        </p:txBody>
      </p:sp>
      <p:sp>
        <p:nvSpPr>
          <p:cNvPr id="7" name="Text 4"/>
          <p:cNvSpPr/>
          <p:nvPr/>
        </p:nvSpPr>
        <p:spPr>
          <a:xfrm>
            <a:off x="787483" y="1812246"/>
            <a:ext cx="2468880" cy="685800"/>
          </a:xfrm>
          <a:prstGeom prst="rect">
            <a:avLst/>
          </a:prstGeom>
          <a:noFill/>
          <a:ln/>
        </p:spPr>
        <p:txBody>
          <a:bodyPr wrap="square" lIns="0" tIns="0" rIns="0" bIns="0" rtlCol="0" anchor="t"/>
          <a:lstStyle/>
          <a:p>
            <a:pPr marL="0" indent="0">
              <a:buNone/>
            </a:pPr>
            <a:r>
              <a:rPr lang="en-US" sz="1200" b="1" dirty="0">
                <a:solidFill>
                  <a:srgbClr val="E8734A"/>
                </a:solidFill>
                <a:latin typeface="Calibri" pitchFamily="34" charset="0"/>
                <a:ea typeface="Calibri" pitchFamily="34" charset="-122"/>
                <a:cs typeface="Calibri" pitchFamily="34" charset="-120"/>
              </a:rPr>
              <a:t>Featured Market</a:t>
            </a:r>
            <a:endParaRPr lang="en-US" sz="1200" dirty="0"/>
          </a:p>
          <a:p>
            <a:r>
              <a:rPr lang="en-CA" sz="1000" b="1" dirty="0"/>
              <a:t>Prague</a:t>
            </a:r>
            <a:r>
              <a:rPr lang="en-CA" sz="1000" dirty="0"/>
              <a:t> stands out as our absolute highest revenue-generating city globally.</a:t>
            </a:r>
            <a:endParaRPr lang="en-US" sz="1000" dirty="0"/>
          </a:p>
        </p:txBody>
      </p:sp>
      <p:sp>
        <p:nvSpPr>
          <p:cNvPr id="8" name="Text 5"/>
          <p:cNvSpPr/>
          <p:nvPr/>
        </p:nvSpPr>
        <p:spPr>
          <a:xfrm>
            <a:off x="787483" y="2395247"/>
            <a:ext cx="2468880" cy="193860"/>
          </a:xfrm>
          <a:prstGeom prst="rect">
            <a:avLst/>
          </a:prstGeom>
          <a:noFill/>
          <a:ln/>
        </p:spPr>
        <p:txBody>
          <a:bodyPr wrap="square" lIns="0" tIns="0" rIns="0" bIns="0" rtlCol="0" anchor="t"/>
          <a:lstStyle/>
          <a:p>
            <a:pPr marL="0" indent="0">
              <a:buNone/>
            </a:pPr>
            <a:r>
              <a:rPr lang="en-US" sz="1200" b="1" dirty="0">
                <a:solidFill>
                  <a:srgbClr val="E8734A"/>
                </a:solidFill>
                <a:latin typeface="Calibri" pitchFamily="34" charset="0"/>
                <a:ea typeface="Calibri" pitchFamily="34" charset="-122"/>
                <a:cs typeface="Calibri" pitchFamily="34" charset="-120"/>
              </a:rPr>
              <a:t>Total Gross Revenue  </a:t>
            </a:r>
            <a:r>
              <a:rPr lang="en-CA" sz="1000" dirty="0"/>
              <a:t>$273.24</a:t>
            </a:r>
            <a:endParaRPr lang="en-US" sz="1000" dirty="0"/>
          </a:p>
        </p:txBody>
      </p:sp>
      <p:sp>
        <p:nvSpPr>
          <p:cNvPr id="9" name="Text 6"/>
          <p:cNvSpPr/>
          <p:nvPr/>
        </p:nvSpPr>
        <p:spPr>
          <a:xfrm>
            <a:off x="794248" y="2720381"/>
            <a:ext cx="3091928" cy="685800"/>
          </a:xfrm>
          <a:prstGeom prst="rect">
            <a:avLst/>
          </a:prstGeom>
          <a:noFill/>
          <a:ln/>
        </p:spPr>
        <p:txBody>
          <a:bodyPr wrap="square" lIns="0" tIns="0" rIns="0" bIns="0" rtlCol="0" anchor="t"/>
          <a:lstStyle/>
          <a:p>
            <a:pPr marL="0" indent="0">
              <a:buNone/>
            </a:pPr>
            <a:r>
              <a:rPr lang="en-US" sz="1200" b="1" dirty="0">
                <a:solidFill>
                  <a:srgbClr val="E8734A"/>
                </a:solidFill>
                <a:latin typeface="Calibri" pitchFamily="34" charset="0"/>
                <a:ea typeface="Calibri" pitchFamily="34" charset="-122"/>
                <a:cs typeface="Calibri" pitchFamily="34" charset="-120"/>
              </a:rPr>
              <a:t>Business Significance</a:t>
            </a:r>
            <a:endParaRPr lang="en-US" sz="1200" dirty="0"/>
          </a:p>
          <a:p>
            <a:r>
              <a:rPr lang="en-CA" sz="1000" dirty="0"/>
              <a:t>Prague represents our highest-density transactional capital, making it a priority target for upcoming localized marketing spending.</a:t>
            </a:r>
            <a:endParaRPr lang="en-US" sz="1200" dirty="0"/>
          </a:p>
        </p:txBody>
      </p:sp>
      <p:sp>
        <p:nvSpPr>
          <p:cNvPr id="10" name="Text 7"/>
          <p:cNvSpPr/>
          <p:nvPr/>
        </p:nvSpPr>
        <p:spPr>
          <a:xfrm>
            <a:off x="4030149" y="2717647"/>
            <a:ext cx="3091928" cy="685800"/>
          </a:xfrm>
          <a:prstGeom prst="rect">
            <a:avLst/>
          </a:prstGeom>
          <a:noFill/>
          <a:ln/>
        </p:spPr>
        <p:txBody>
          <a:bodyPr wrap="square" lIns="0" tIns="0" rIns="0" bIns="0" rtlCol="0" anchor="t"/>
          <a:lstStyle/>
          <a:p>
            <a:pPr marL="0" indent="0">
              <a:buNone/>
            </a:pPr>
            <a:r>
              <a:rPr lang="en-US" sz="1200" b="1" dirty="0">
                <a:solidFill>
                  <a:srgbClr val="E8734A"/>
                </a:solidFill>
                <a:latin typeface="Calibri" pitchFamily="34" charset="0"/>
                <a:ea typeface="Calibri" pitchFamily="34" charset="-122"/>
                <a:cs typeface="Calibri" pitchFamily="34" charset="-120"/>
              </a:rPr>
              <a:t>Business Significance: </a:t>
            </a:r>
            <a:endParaRPr lang="en-US" sz="1200" dirty="0"/>
          </a:p>
          <a:p>
            <a:r>
              <a:rPr lang="en-CA" sz="1000" dirty="0"/>
              <a:t>This user demonstrates elite customer lifetime value (CLV) and serves as the primary persona for luxury tier loyalty programs.</a:t>
            </a:r>
            <a:br>
              <a:rPr lang="en-CA" sz="1000" dirty="0"/>
            </a:br>
            <a:endParaRPr lang="en-CA" sz="1000" dirty="0"/>
          </a:p>
        </p:txBody>
      </p:sp>
      <p:pic>
        <p:nvPicPr>
          <p:cNvPr id="14" name="Picture 13" descr="The diagram displays a SQL query that calculates the total revenue for each city, orders the results in descending order, and limits the output to the top result.">
            <a:extLst>
              <a:ext uri="{FF2B5EF4-FFF2-40B4-BE49-F238E27FC236}">
                <a16:creationId xmlns:a16="http://schemas.microsoft.com/office/drawing/2014/main" id="{05040C96-A5AF-433F-0327-F26913FC240B}"/>
              </a:ext>
            </a:extLst>
          </p:cNvPr>
          <p:cNvPicPr>
            <a:picLocks noChangeAspect="1"/>
          </p:cNvPicPr>
          <p:nvPr/>
        </p:nvPicPr>
        <p:blipFill>
          <a:blip r:embed="rId3"/>
          <a:srcRect l="11656" t="38771" r="12000" b="23151"/>
          <a:stretch>
            <a:fillRect/>
          </a:stretch>
        </p:blipFill>
        <p:spPr>
          <a:xfrm>
            <a:off x="731520" y="3537868"/>
            <a:ext cx="3631512" cy="872596"/>
          </a:xfrm>
          <a:prstGeom prst="rect">
            <a:avLst/>
          </a:prstGeom>
        </p:spPr>
      </p:pic>
      <p:pic>
        <p:nvPicPr>
          <p:cNvPr id="18" name="Picture 17" descr="This is a SQL query that retrieves the customer's ID, first name, and last name, along with the total amount spent, sorted in descending order, and limited to the top result.">
            <a:extLst>
              <a:ext uri="{FF2B5EF4-FFF2-40B4-BE49-F238E27FC236}">
                <a16:creationId xmlns:a16="http://schemas.microsoft.com/office/drawing/2014/main" id="{75506BF4-A4FA-A8DE-507C-CCC92CE6411A}"/>
              </a:ext>
            </a:extLst>
          </p:cNvPr>
          <p:cNvPicPr>
            <a:picLocks noChangeAspect="1"/>
          </p:cNvPicPr>
          <p:nvPr/>
        </p:nvPicPr>
        <p:blipFill>
          <a:blip r:embed="rId4"/>
          <a:srcRect l="8000" t="37215" r="8000" b="22227"/>
          <a:stretch>
            <a:fillRect/>
          </a:stretch>
        </p:blipFill>
        <p:spPr>
          <a:xfrm>
            <a:off x="3196161" y="3899897"/>
            <a:ext cx="4991050" cy="869861"/>
          </a:xfrm>
          <a:prstGeom prst="rect">
            <a:avLst/>
          </a:prstGeom>
        </p:spPr>
      </p:pic>
      <p:sp>
        <p:nvSpPr>
          <p:cNvPr id="19" name="Text 5">
            <a:extLst>
              <a:ext uri="{FF2B5EF4-FFF2-40B4-BE49-F238E27FC236}">
                <a16:creationId xmlns:a16="http://schemas.microsoft.com/office/drawing/2014/main" id="{89951AF0-F3B3-0F72-FDF4-76AC85798076}"/>
              </a:ext>
            </a:extLst>
          </p:cNvPr>
          <p:cNvSpPr/>
          <p:nvPr/>
        </p:nvSpPr>
        <p:spPr>
          <a:xfrm>
            <a:off x="4030149" y="2377890"/>
            <a:ext cx="2468880" cy="193860"/>
          </a:xfrm>
          <a:prstGeom prst="rect">
            <a:avLst/>
          </a:prstGeom>
          <a:noFill/>
          <a:ln/>
        </p:spPr>
        <p:txBody>
          <a:bodyPr wrap="square" lIns="0" tIns="0" rIns="0" bIns="0" rtlCol="0" anchor="t"/>
          <a:lstStyle/>
          <a:p>
            <a:pPr marL="0" indent="0">
              <a:buNone/>
            </a:pPr>
            <a:r>
              <a:rPr lang="en-US" sz="1200" b="1" dirty="0">
                <a:solidFill>
                  <a:srgbClr val="E8734A"/>
                </a:solidFill>
                <a:latin typeface="Calibri" pitchFamily="34" charset="0"/>
                <a:ea typeface="Calibri" pitchFamily="34" charset="-122"/>
                <a:cs typeface="Calibri" pitchFamily="34" charset="-120"/>
              </a:rPr>
              <a:t>Total Customer Spend  </a:t>
            </a:r>
            <a:r>
              <a:rPr lang="en-CA" sz="1000" dirty="0"/>
              <a:t>$144.54</a:t>
            </a:r>
            <a:endParaRPr lang="en-US" sz="1000" dirty="0"/>
          </a:p>
        </p:txBody>
      </p:sp>
      <p:sp>
        <p:nvSpPr>
          <p:cNvPr id="20" name="Text 4">
            <a:extLst>
              <a:ext uri="{FF2B5EF4-FFF2-40B4-BE49-F238E27FC236}">
                <a16:creationId xmlns:a16="http://schemas.microsoft.com/office/drawing/2014/main" id="{040A5253-0C80-23D8-6E45-C8711C42B587}"/>
              </a:ext>
            </a:extLst>
          </p:cNvPr>
          <p:cNvSpPr/>
          <p:nvPr/>
        </p:nvSpPr>
        <p:spPr>
          <a:xfrm>
            <a:off x="4030149" y="1810817"/>
            <a:ext cx="2468880" cy="685800"/>
          </a:xfrm>
          <a:prstGeom prst="rect">
            <a:avLst/>
          </a:prstGeom>
          <a:noFill/>
          <a:ln/>
        </p:spPr>
        <p:txBody>
          <a:bodyPr wrap="square" lIns="0" tIns="0" rIns="0" bIns="0" rtlCol="0" anchor="t"/>
          <a:lstStyle/>
          <a:p>
            <a:pPr marL="0" indent="0">
              <a:buNone/>
            </a:pPr>
            <a:r>
              <a:rPr lang="en-US" sz="1200" b="1" dirty="0">
                <a:solidFill>
                  <a:srgbClr val="E8734A"/>
                </a:solidFill>
                <a:latin typeface="Calibri" pitchFamily="34" charset="0"/>
                <a:ea typeface="Calibri" pitchFamily="34" charset="-122"/>
                <a:cs typeface="Calibri" pitchFamily="34" charset="-120"/>
              </a:rPr>
              <a:t>VIP Customer Profile</a:t>
            </a:r>
            <a:endParaRPr lang="en-US" sz="1200" dirty="0"/>
          </a:p>
          <a:p>
            <a:r>
              <a:rPr lang="en-CA" sz="1000" b="1" dirty="0"/>
              <a:t>František </a:t>
            </a:r>
            <a:r>
              <a:rPr lang="en-CA" sz="1000" b="1" dirty="0" err="1"/>
              <a:t>Wichterlová</a:t>
            </a:r>
            <a:endParaRPr lang="en-US" sz="1000" b="1" dirty="0"/>
          </a:p>
        </p:txBody>
      </p:sp>
      <p:graphicFrame>
        <p:nvGraphicFramePr>
          <p:cNvPr id="22" name="Chart 21">
            <a:extLst>
              <a:ext uri="{FF2B5EF4-FFF2-40B4-BE49-F238E27FC236}">
                <a16:creationId xmlns:a16="http://schemas.microsoft.com/office/drawing/2014/main" id="{F3C6327E-549D-5B28-1E8B-76855A00A615}"/>
              </a:ext>
            </a:extLst>
          </p:cNvPr>
          <p:cNvGraphicFramePr>
            <a:graphicFrameLocks/>
          </p:cNvGraphicFramePr>
          <p:nvPr>
            <p:extLst>
              <p:ext uri="{D42A27DB-BD31-4B8C-83A1-F6EECF244321}">
                <p14:modId xmlns:p14="http://schemas.microsoft.com/office/powerpoint/2010/main" val="992165226"/>
              </p:ext>
            </p:extLst>
          </p:nvPr>
        </p:nvGraphicFramePr>
        <p:xfrm>
          <a:off x="5684419" y="701856"/>
          <a:ext cx="3208800" cy="174211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E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lgn="l">
              <a:buNone/>
            </a:pPr>
            <a:r>
              <a:rPr lang="en-US" sz="2400" b="1" dirty="0">
                <a:solidFill>
                  <a:srgbClr val="2D2A26"/>
                </a:solidFill>
                <a:latin typeface="Georgia" pitchFamily="34" charset="0"/>
              </a:rPr>
              <a:t>Target Audience Segmentation</a:t>
            </a:r>
          </a:p>
        </p:txBody>
      </p:sp>
      <p:sp>
        <p:nvSpPr>
          <p:cNvPr id="3" name="Text 1"/>
          <p:cNvSpPr/>
          <p:nvPr/>
        </p:nvSpPr>
        <p:spPr>
          <a:xfrm>
            <a:off x="731520" y="914400"/>
            <a:ext cx="7315200" cy="320040"/>
          </a:xfrm>
          <a:prstGeom prst="rect">
            <a:avLst/>
          </a:prstGeom>
          <a:noFill/>
          <a:ln/>
        </p:spPr>
        <p:txBody>
          <a:bodyPr wrap="square" lIns="0" tIns="0" rIns="0" bIns="0" rtlCol="0" anchor="ctr"/>
          <a:lstStyle/>
          <a:p>
            <a:pPr marL="0" indent="0" algn="l">
              <a:buNone/>
            </a:pPr>
            <a:r>
              <a:rPr lang="en-US" sz="1300" i="1" dirty="0">
                <a:solidFill>
                  <a:srgbClr val="8C8478"/>
                </a:solidFill>
                <a:latin typeface="Calibri" pitchFamily="34" charset="0"/>
                <a:ea typeface="Calibri" pitchFamily="34" charset="-122"/>
                <a:cs typeface="Calibri" pitchFamily="34" charset="-120"/>
              </a:rPr>
              <a:t>Corporate Hierarchy &amp; Target Demographics</a:t>
            </a:r>
            <a:endParaRPr lang="en-US" sz="1300" dirty="0"/>
          </a:p>
        </p:txBody>
      </p:sp>
      <p:sp>
        <p:nvSpPr>
          <p:cNvPr id="5" name="Shape 2"/>
          <p:cNvSpPr/>
          <p:nvPr/>
        </p:nvSpPr>
        <p:spPr>
          <a:xfrm>
            <a:off x="5120640" y="1235770"/>
            <a:ext cx="3657600" cy="756551"/>
          </a:xfrm>
          <a:prstGeom prst="rect">
            <a:avLst/>
          </a:prstGeom>
          <a:solidFill>
            <a:schemeClr val="accent2">
              <a:lumMod val="20000"/>
              <a:lumOff val="80000"/>
            </a:schemeClr>
          </a:solidFill>
          <a:ln/>
          <a:effectLst>
            <a:outerShdw blurRad="38100" dist="12700" dir="8100000" algn="bl" rotWithShape="0">
              <a:srgbClr val="000000">
                <a:alpha val="6000"/>
              </a:srgbClr>
            </a:outerShdw>
          </a:effectLst>
        </p:spPr>
        <p:txBody>
          <a:bodyPr/>
          <a:lstStyle/>
          <a:p>
            <a:endParaRPr lang="en-CA"/>
          </a:p>
        </p:txBody>
      </p:sp>
      <p:sp>
        <p:nvSpPr>
          <p:cNvPr id="7" name="Shape 4"/>
          <p:cNvSpPr/>
          <p:nvPr/>
        </p:nvSpPr>
        <p:spPr>
          <a:xfrm>
            <a:off x="5120640" y="4071568"/>
            <a:ext cx="3657600" cy="756551"/>
          </a:xfrm>
          <a:prstGeom prst="rect">
            <a:avLst/>
          </a:prstGeom>
          <a:solidFill>
            <a:schemeClr val="accent4">
              <a:lumMod val="20000"/>
              <a:lumOff val="80000"/>
            </a:schemeClr>
          </a:solidFill>
          <a:ln/>
          <a:effectLst>
            <a:outerShdw blurRad="38100" dist="12700" dir="8100000" algn="bl" rotWithShape="0">
              <a:srgbClr val="000000">
                <a:alpha val="6000"/>
              </a:srgbClr>
            </a:outerShdw>
          </a:effectLst>
        </p:spPr>
        <p:txBody>
          <a:bodyPr/>
          <a:lstStyle/>
          <a:p>
            <a:endParaRPr lang="en-CA" dirty="0"/>
          </a:p>
        </p:txBody>
      </p:sp>
      <p:sp>
        <p:nvSpPr>
          <p:cNvPr id="8" name="Text 5"/>
          <p:cNvSpPr/>
          <p:nvPr/>
        </p:nvSpPr>
        <p:spPr>
          <a:xfrm>
            <a:off x="5303520" y="4186474"/>
            <a:ext cx="3291840" cy="591266"/>
          </a:xfrm>
          <a:prstGeom prst="rect">
            <a:avLst/>
          </a:prstGeom>
          <a:noFill/>
          <a:ln/>
        </p:spPr>
        <p:txBody>
          <a:bodyPr wrap="square" lIns="0" tIns="0" rIns="0" bIns="0" rtlCol="0" anchor="t"/>
          <a:lstStyle/>
          <a:p>
            <a:pPr marL="0" indent="0">
              <a:buNone/>
            </a:pPr>
            <a:r>
              <a:rPr lang="en-US" sz="1300" b="1" dirty="0">
                <a:solidFill>
                  <a:srgbClr val="D4A853"/>
                </a:solidFill>
                <a:latin typeface="Calibri" pitchFamily="34" charset="0"/>
                <a:ea typeface="Calibri" pitchFamily="34" charset="-122"/>
                <a:cs typeface="Calibri" pitchFamily="34" charset="-120"/>
              </a:rPr>
              <a:t>Business Insight</a:t>
            </a:r>
            <a:endParaRPr lang="en-US" sz="1300" dirty="0"/>
          </a:p>
          <a:p>
            <a:r>
              <a:rPr lang="en-CA" sz="1000" dirty="0"/>
              <a:t>Creates automated, high-accuracy customer segments for promotional blasts, preventing advertising budget waste.</a:t>
            </a:r>
            <a:endParaRPr lang="en-US" sz="1000" dirty="0"/>
          </a:p>
        </p:txBody>
      </p:sp>
      <p:sp>
        <p:nvSpPr>
          <p:cNvPr id="9" name="Shape 2">
            <a:extLst>
              <a:ext uri="{FF2B5EF4-FFF2-40B4-BE49-F238E27FC236}">
                <a16:creationId xmlns:a16="http://schemas.microsoft.com/office/drawing/2014/main" id="{4D08237A-095D-498A-43B2-3263A1CEF64D}"/>
              </a:ext>
            </a:extLst>
          </p:cNvPr>
          <p:cNvSpPr/>
          <p:nvPr/>
        </p:nvSpPr>
        <p:spPr>
          <a:xfrm>
            <a:off x="5120640" y="2181036"/>
            <a:ext cx="3657600" cy="756551"/>
          </a:xfrm>
          <a:prstGeom prst="rect">
            <a:avLst/>
          </a:prstGeom>
          <a:solidFill>
            <a:schemeClr val="accent3">
              <a:lumMod val="20000"/>
              <a:lumOff val="80000"/>
            </a:schemeClr>
          </a:solidFill>
          <a:ln/>
          <a:effectLst>
            <a:outerShdw blurRad="38100" dist="12700" dir="8100000" algn="bl" rotWithShape="0">
              <a:srgbClr val="000000">
                <a:alpha val="6000"/>
              </a:srgbClr>
            </a:outerShdw>
          </a:effectLst>
        </p:spPr>
        <p:txBody>
          <a:bodyPr/>
          <a:lstStyle/>
          <a:p>
            <a:endParaRPr lang="en-CA"/>
          </a:p>
        </p:txBody>
      </p:sp>
      <p:sp>
        <p:nvSpPr>
          <p:cNvPr id="10" name="Shape 2">
            <a:extLst>
              <a:ext uri="{FF2B5EF4-FFF2-40B4-BE49-F238E27FC236}">
                <a16:creationId xmlns:a16="http://schemas.microsoft.com/office/drawing/2014/main" id="{F3B7A1EF-C3BE-1B7B-2CFB-14644D6CDDB5}"/>
              </a:ext>
            </a:extLst>
          </p:cNvPr>
          <p:cNvSpPr/>
          <p:nvPr/>
        </p:nvSpPr>
        <p:spPr>
          <a:xfrm>
            <a:off x="5120640" y="3126302"/>
            <a:ext cx="3657600" cy="756551"/>
          </a:xfrm>
          <a:prstGeom prst="rect">
            <a:avLst/>
          </a:prstGeom>
          <a:solidFill>
            <a:schemeClr val="accent6">
              <a:lumMod val="20000"/>
              <a:lumOff val="80000"/>
            </a:schemeClr>
          </a:solidFill>
          <a:ln/>
          <a:effectLst>
            <a:outerShdw blurRad="38100" dist="12700" dir="8100000" algn="bl" rotWithShape="0">
              <a:srgbClr val="000000">
                <a:alpha val="6000"/>
              </a:srgbClr>
            </a:outerShdw>
          </a:effectLst>
        </p:spPr>
        <p:txBody>
          <a:bodyPr/>
          <a:lstStyle/>
          <a:p>
            <a:endParaRPr lang="en-CA"/>
          </a:p>
        </p:txBody>
      </p:sp>
      <p:pic>
        <p:nvPicPr>
          <p:cNvPr id="12" name="Picture 11" descr="The diagram illustrates a SQL query selecting distinct customer email addresses, first and last names, joining customer data with invoice and track information, filtering for the 'Rock' genre, and ordering the results by email.">
            <a:extLst>
              <a:ext uri="{FF2B5EF4-FFF2-40B4-BE49-F238E27FC236}">
                <a16:creationId xmlns:a16="http://schemas.microsoft.com/office/drawing/2014/main" id="{6AEF7C74-150A-C0A2-DC76-48CA475D2937}"/>
              </a:ext>
            </a:extLst>
          </p:cNvPr>
          <p:cNvPicPr>
            <a:picLocks noChangeAspect="1"/>
          </p:cNvPicPr>
          <p:nvPr/>
        </p:nvPicPr>
        <p:blipFill>
          <a:blip r:embed="rId3"/>
          <a:srcRect l="10404" t="31124" r="10037" b="18850"/>
          <a:stretch>
            <a:fillRect/>
          </a:stretch>
        </p:blipFill>
        <p:spPr>
          <a:xfrm>
            <a:off x="731520" y="2181899"/>
            <a:ext cx="3955538" cy="1369873"/>
          </a:xfrm>
          <a:prstGeom prst="rect">
            <a:avLst/>
          </a:prstGeom>
        </p:spPr>
      </p:pic>
      <p:sp>
        <p:nvSpPr>
          <p:cNvPr id="13" name="Text 5">
            <a:extLst>
              <a:ext uri="{FF2B5EF4-FFF2-40B4-BE49-F238E27FC236}">
                <a16:creationId xmlns:a16="http://schemas.microsoft.com/office/drawing/2014/main" id="{A3D8672F-33DE-0E2F-41E5-3306046C9DD6}"/>
              </a:ext>
            </a:extLst>
          </p:cNvPr>
          <p:cNvSpPr/>
          <p:nvPr/>
        </p:nvSpPr>
        <p:spPr>
          <a:xfrm>
            <a:off x="5303520" y="2285306"/>
            <a:ext cx="3291840" cy="548009"/>
          </a:xfrm>
          <a:prstGeom prst="rect">
            <a:avLst/>
          </a:prstGeom>
          <a:noFill/>
          <a:ln/>
        </p:spPr>
        <p:txBody>
          <a:bodyPr wrap="square" lIns="0" tIns="0" rIns="0" bIns="0" rtlCol="0" anchor="t"/>
          <a:lstStyle/>
          <a:p>
            <a:pPr marL="0" indent="0">
              <a:buNone/>
            </a:pPr>
            <a:r>
              <a:rPr lang="en-US" sz="1300" b="1" dirty="0">
                <a:solidFill>
                  <a:srgbClr val="D4A853"/>
                </a:solidFill>
                <a:latin typeface="Calibri" pitchFamily="34" charset="0"/>
                <a:ea typeface="Calibri" pitchFamily="34" charset="-122"/>
                <a:cs typeface="Calibri" pitchFamily="34" charset="-120"/>
              </a:rPr>
              <a:t>Technical Milestone</a:t>
            </a:r>
            <a:endParaRPr lang="en-US" sz="1300" dirty="0"/>
          </a:p>
          <a:p>
            <a:r>
              <a:rPr lang="en-CA" sz="1000" dirty="0"/>
              <a:t>Deployed an advanced </a:t>
            </a:r>
            <a:r>
              <a:rPr lang="en-CA" sz="1000" b="1" dirty="0"/>
              <a:t>5-table relational JOIN</a:t>
            </a:r>
            <a:r>
              <a:rPr lang="en-CA" sz="1000" dirty="0"/>
              <a:t> linking customer accounts directly to itemized content genres.</a:t>
            </a:r>
            <a:endParaRPr lang="en-US" sz="1000" dirty="0"/>
          </a:p>
        </p:txBody>
      </p:sp>
      <p:sp>
        <p:nvSpPr>
          <p:cNvPr id="14" name="Text 5">
            <a:extLst>
              <a:ext uri="{FF2B5EF4-FFF2-40B4-BE49-F238E27FC236}">
                <a16:creationId xmlns:a16="http://schemas.microsoft.com/office/drawing/2014/main" id="{B5E00854-5EA0-E227-2044-DF982B0DC2EC}"/>
              </a:ext>
            </a:extLst>
          </p:cNvPr>
          <p:cNvSpPr/>
          <p:nvPr/>
        </p:nvSpPr>
        <p:spPr>
          <a:xfrm>
            <a:off x="5303520" y="3236097"/>
            <a:ext cx="3291840" cy="525780"/>
          </a:xfrm>
          <a:prstGeom prst="rect">
            <a:avLst/>
          </a:prstGeom>
          <a:noFill/>
          <a:ln/>
        </p:spPr>
        <p:txBody>
          <a:bodyPr wrap="square" lIns="0" tIns="0" rIns="0" bIns="0" rtlCol="0" anchor="t"/>
          <a:lstStyle/>
          <a:p>
            <a:pPr marL="0" indent="0">
              <a:buNone/>
            </a:pPr>
            <a:r>
              <a:rPr lang="en-US" sz="1300" b="1" dirty="0">
                <a:solidFill>
                  <a:srgbClr val="D4A853"/>
                </a:solidFill>
                <a:latin typeface="Calibri" pitchFamily="34" charset="0"/>
                <a:ea typeface="Calibri" pitchFamily="34" charset="-122"/>
                <a:cs typeface="Calibri" pitchFamily="34" charset="-120"/>
              </a:rPr>
              <a:t>Audience Cohort</a:t>
            </a:r>
            <a:endParaRPr lang="en-US" sz="1300" dirty="0"/>
          </a:p>
          <a:p>
            <a:r>
              <a:rPr lang="en-CA" sz="1000" dirty="0"/>
              <a:t>Successfully extracted a clean, segmented list of active </a:t>
            </a:r>
            <a:r>
              <a:rPr lang="en-CA" sz="1000" b="1" dirty="0"/>
              <a:t>Rock Music Listeners</a:t>
            </a:r>
            <a:r>
              <a:rPr lang="en-CA" sz="1000" dirty="0"/>
              <a:t> and their contact emails.</a:t>
            </a:r>
            <a:endParaRPr lang="en-US" sz="1000" dirty="0"/>
          </a:p>
        </p:txBody>
      </p:sp>
      <p:sp>
        <p:nvSpPr>
          <p:cNvPr id="15" name="Text 5">
            <a:extLst>
              <a:ext uri="{FF2B5EF4-FFF2-40B4-BE49-F238E27FC236}">
                <a16:creationId xmlns:a16="http://schemas.microsoft.com/office/drawing/2014/main" id="{F2AA98B9-AD35-0B00-6595-1E8E128EB2C2}"/>
              </a:ext>
            </a:extLst>
          </p:cNvPr>
          <p:cNvSpPr/>
          <p:nvPr/>
        </p:nvSpPr>
        <p:spPr>
          <a:xfrm>
            <a:off x="5303520" y="1299904"/>
            <a:ext cx="3291840" cy="594030"/>
          </a:xfrm>
          <a:prstGeom prst="rect">
            <a:avLst/>
          </a:prstGeom>
          <a:noFill/>
          <a:ln/>
        </p:spPr>
        <p:txBody>
          <a:bodyPr wrap="square" lIns="0" tIns="0" rIns="0" bIns="0" rtlCol="0" anchor="t"/>
          <a:lstStyle/>
          <a:p>
            <a:pPr marL="0" indent="0">
              <a:buNone/>
            </a:pPr>
            <a:r>
              <a:rPr lang="en-US" sz="1300" b="1" dirty="0">
                <a:solidFill>
                  <a:srgbClr val="D4A853"/>
                </a:solidFill>
                <a:latin typeface="Calibri" pitchFamily="34" charset="0"/>
                <a:ea typeface="Calibri" pitchFamily="34" charset="-122"/>
                <a:cs typeface="Calibri" pitchFamily="34" charset="-120"/>
              </a:rPr>
              <a:t>Senior Executive</a:t>
            </a:r>
          </a:p>
          <a:p>
            <a:r>
              <a:rPr lang="en-CA" sz="1000" b="1" dirty="0"/>
              <a:t>Andrew Adams</a:t>
            </a:r>
            <a:r>
              <a:rPr lang="en-CA" sz="1000" dirty="0"/>
              <a:t> holds the senior-most tier within the organization as General Manager (Level L6).</a:t>
            </a:r>
            <a:endParaRPr lang="en-US" sz="1000" dirty="0"/>
          </a:p>
        </p:txBody>
      </p:sp>
      <p:sp>
        <p:nvSpPr>
          <p:cNvPr id="17" name="Rectangle 1">
            <a:extLst>
              <a:ext uri="{FF2B5EF4-FFF2-40B4-BE49-F238E27FC236}">
                <a16:creationId xmlns:a16="http://schemas.microsoft.com/office/drawing/2014/main" id="{F7A9BD44-DE37-C776-1BB8-9018BD9AB657}"/>
              </a:ext>
            </a:extLst>
          </p:cNvPr>
          <p:cNvSpPr>
            <a:spLocks noChangeArrowheads="1"/>
          </p:cNvSpPr>
          <p:nvPr/>
        </p:nvSpPr>
        <p:spPr bwMode="auto">
          <a:xfrm>
            <a:off x="0" y="-230832"/>
            <a:ext cx="801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a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9" name="Picture 18">
            <a:extLst>
              <a:ext uri="{FF2B5EF4-FFF2-40B4-BE49-F238E27FC236}">
                <a16:creationId xmlns:a16="http://schemas.microsoft.com/office/drawing/2014/main" id="{EB01ED51-B72B-4E3A-F604-9DD8AE5C6C07}"/>
              </a:ext>
            </a:extLst>
          </p:cNvPr>
          <p:cNvPicPr>
            <a:picLocks noChangeAspect="1"/>
          </p:cNvPicPr>
          <p:nvPr/>
        </p:nvPicPr>
        <p:blipFill>
          <a:blip r:embed="rId4"/>
          <a:srcRect l="10861" t="41873" r="10596" b="23623"/>
          <a:stretch>
            <a:fillRect/>
          </a:stretch>
        </p:blipFill>
        <p:spPr>
          <a:xfrm>
            <a:off x="731520" y="1297267"/>
            <a:ext cx="3955538" cy="6950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E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lgn="l">
              <a:buNone/>
            </a:pPr>
            <a:r>
              <a:rPr lang="en-US" sz="2800" b="1" dirty="0">
                <a:solidFill>
                  <a:srgbClr val="2D2A26"/>
                </a:solidFill>
                <a:latin typeface="Georgia" pitchFamily="34" charset="0"/>
              </a:rPr>
              <a:t>Content Duration Benchmarking</a:t>
            </a:r>
            <a:endParaRPr lang="en-US" sz="2800" dirty="0"/>
          </a:p>
        </p:txBody>
      </p:sp>
      <p:sp>
        <p:nvSpPr>
          <p:cNvPr id="3" name="Text 1"/>
          <p:cNvSpPr/>
          <p:nvPr/>
        </p:nvSpPr>
        <p:spPr>
          <a:xfrm>
            <a:off x="731520" y="1051560"/>
            <a:ext cx="4572000" cy="320040"/>
          </a:xfrm>
          <a:prstGeom prst="rect">
            <a:avLst/>
          </a:prstGeom>
          <a:noFill/>
          <a:ln/>
        </p:spPr>
        <p:txBody>
          <a:bodyPr wrap="square" lIns="0" tIns="0" rIns="0" bIns="0" rtlCol="0" anchor="ctr"/>
          <a:lstStyle/>
          <a:p>
            <a:pPr marL="0" indent="0">
              <a:buNone/>
            </a:pPr>
            <a:r>
              <a:rPr lang="en-US" sz="1300" i="1" dirty="0">
                <a:solidFill>
                  <a:srgbClr val="8C8478"/>
                </a:solidFill>
                <a:latin typeface="Calibri" pitchFamily="34" charset="0"/>
                <a:ea typeface="Calibri" pitchFamily="34" charset="-122"/>
                <a:cs typeface="Calibri" pitchFamily="34" charset="-120"/>
              </a:rPr>
              <a:t>Identifying Long-Form Audio Outliers Against Dataset Averages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090536118"/>
              </p:ext>
            </p:extLst>
          </p:nvPr>
        </p:nvGraphicFramePr>
        <p:xfrm>
          <a:off x="731520" y="1417320"/>
          <a:ext cx="4572000" cy="1920240"/>
        </p:xfrm>
        <a:graphic>
          <a:graphicData uri="http://schemas.openxmlformats.org/drawingml/2006/table">
            <a:tbl>
              <a:tblPr/>
              <a:tblGrid>
                <a:gridCol w="3657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E873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Track Name</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E873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Duration (</a:t>
                      </a:r>
                      <a:r>
                        <a:rPr lang="en-US" sz="1000" b="1" dirty="0" err="1">
                          <a:solidFill>
                            <a:srgbClr val="FFFFFF"/>
                          </a:solidFill>
                          <a:latin typeface="Calibri" pitchFamily="34" charset="0"/>
                          <a:ea typeface="Calibri" pitchFamily="34" charset="-122"/>
                          <a:cs typeface="Calibri" pitchFamily="34" charset="-120"/>
                        </a:rPr>
                        <a:t>Miliseconds</a:t>
                      </a: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E8734A"/>
                    </a:solidFill>
                  </a:tcPr>
                </a:tc>
                <a:extLst>
                  <a:ext uri="{0D108BD9-81ED-4DB2-BD59-A6C34878D82A}">
                    <a16:rowId xmlns:a16="http://schemas.microsoft.com/office/drawing/2014/main" val="10000"/>
                  </a:ext>
                </a:extLst>
              </a:tr>
              <a:tr h="320040">
                <a:tc>
                  <a:txBody>
                    <a:bodyPr/>
                    <a:lstStyle/>
                    <a:p>
                      <a:pPr marL="0" indent="0" algn="ctr">
                        <a:buNone/>
                      </a:pPr>
                      <a:r>
                        <a:rPr lang="en-US" sz="1000" b="1" dirty="0">
                          <a:solidFill>
                            <a:srgbClr val="2D2A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How Many More Times</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711,836 </a:t>
                      </a:r>
                      <a:r>
                        <a:rPr lang="en-US" sz="1000" dirty="0" err="1">
                          <a:solidFill>
                            <a:srgbClr val="2D2A26"/>
                          </a:solidFill>
                          <a:latin typeface="Calibri" pitchFamily="34" charset="0"/>
                          <a:ea typeface="Calibri" pitchFamily="34" charset="-122"/>
                          <a:cs typeface="Calibri" pitchFamily="34" charset="-120"/>
                        </a:rPr>
                        <a:t>ms</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000" b="1" dirty="0">
                          <a:solidFill>
                            <a:srgbClr val="2D2A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5EDE0"/>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Advance Romance</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5EDE0"/>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677,694 </a:t>
                      </a:r>
                      <a:r>
                        <a:rPr lang="en-US" sz="1000" dirty="0" err="1">
                          <a:solidFill>
                            <a:srgbClr val="2D2A26"/>
                          </a:solidFill>
                          <a:latin typeface="Calibri" pitchFamily="34" charset="0"/>
                          <a:ea typeface="Calibri" pitchFamily="34" charset="-122"/>
                          <a:cs typeface="Calibri" pitchFamily="34" charset="-120"/>
                        </a:rPr>
                        <a:t>ms</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5EDE0"/>
                    </a:solidFill>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2D2A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Sleeping Village</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644,571 </a:t>
                      </a:r>
                      <a:r>
                        <a:rPr lang="en-US" sz="1000" dirty="0" err="1">
                          <a:solidFill>
                            <a:srgbClr val="2D2A26"/>
                          </a:solidFill>
                          <a:latin typeface="Calibri" pitchFamily="34" charset="0"/>
                          <a:ea typeface="Calibri" pitchFamily="34" charset="-122"/>
                          <a:cs typeface="Calibri" pitchFamily="34" charset="-120"/>
                        </a:rPr>
                        <a:t>ms</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000" b="1" dirty="0">
                          <a:solidFill>
                            <a:srgbClr val="2D2A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5EDE0"/>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You Shook Me (2)</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5EDE0"/>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619,467 </a:t>
                      </a:r>
                      <a:r>
                        <a:rPr lang="en-US" sz="1000" dirty="0" err="1">
                          <a:solidFill>
                            <a:srgbClr val="2D2A26"/>
                          </a:solidFill>
                          <a:latin typeface="Calibri" pitchFamily="34" charset="0"/>
                          <a:ea typeface="Calibri" pitchFamily="34" charset="-122"/>
                          <a:cs typeface="Calibri" pitchFamily="34" charset="-120"/>
                        </a:rPr>
                        <a:t>ms</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5EDE0"/>
                    </a:solidFill>
                  </a:tcPr>
                </a:tc>
                <a:extLst>
                  <a:ext uri="{0D108BD9-81ED-4DB2-BD59-A6C34878D82A}">
                    <a16:rowId xmlns:a16="http://schemas.microsoft.com/office/drawing/2014/main" val="10004"/>
                  </a:ext>
                </a:extLst>
              </a:tr>
              <a:tr h="320040">
                <a:tc>
                  <a:txBody>
                    <a:bodyPr/>
                    <a:lstStyle/>
                    <a:p>
                      <a:pPr marL="0" indent="0" algn="ctr">
                        <a:buNone/>
                      </a:pPr>
                      <a:r>
                        <a:rPr lang="en-US" sz="1000" b="1" dirty="0">
                          <a:solidFill>
                            <a:srgbClr val="2D2A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Talkin ‘’ Bout Women Obviously</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D2A26"/>
                          </a:solidFill>
                          <a:latin typeface="Calibri" pitchFamily="34" charset="0"/>
                          <a:ea typeface="Calibri" pitchFamily="34" charset="-122"/>
                          <a:cs typeface="Calibri" pitchFamily="34" charset="-120"/>
                        </a:rPr>
                        <a:t>589,531 </a:t>
                      </a:r>
                      <a:r>
                        <a:rPr lang="en-US" sz="1000" dirty="0" err="1">
                          <a:solidFill>
                            <a:srgbClr val="2D2A26"/>
                          </a:solidFill>
                          <a:latin typeface="Calibri" pitchFamily="34" charset="0"/>
                          <a:ea typeface="Calibri" pitchFamily="34" charset="-122"/>
                          <a:cs typeface="Calibri" pitchFamily="34" charset="-120"/>
                        </a:rPr>
                        <a:t>ms</a:t>
                      </a:r>
                      <a:endParaRPr lang="en-US" sz="1000" dirty="0">
                        <a:latin typeface="Calibri" charset="0"/>
                        <a:ea typeface="Calibri" charset="0"/>
                        <a:cs typeface="Calibri" charset="0"/>
                      </a:endParaRPr>
                    </a:p>
                  </a:txBody>
                  <a:tcPr>
                    <a:lnL w="6350" cap="flat" cmpd="sng" algn="ctr">
                      <a:solidFill>
                        <a:srgbClr val="E8E0D4"/>
                      </a:solidFill>
                      <a:prstDash val="solid"/>
                      <a:round/>
                      <a:headEnd type="none" w="med" len="med"/>
                      <a:tailEnd type="none" w="med" len="med"/>
                    </a:lnL>
                    <a:lnR w="6350" cap="flat" cmpd="sng" algn="ctr">
                      <a:solidFill>
                        <a:srgbClr val="E8E0D4"/>
                      </a:solidFill>
                      <a:prstDash val="solid"/>
                      <a:round/>
                      <a:headEnd type="none" w="med" len="med"/>
                      <a:tailEnd type="none" w="med" len="med"/>
                    </a:lnR>
                    <a:lnT w="6350" cap="flat" cmpd="sng" algn="ctr">
                      <a:solidFill>
                        <a:srgbClr val="E8E0D4"/>
                      </a:solidFill>
                      <a:prstDash val="solid"/>
                      <a:round/>
                      <a:headEnd type="none" w="med" len="med"/>
                      <a:tailEnd type="none" w="med" len="med"/>
                    </a:lnT>
                    <a:lnB w="6350" cap="flat" cmpd="sng" algn="ctr">
                      <a:solidFill>
                        <a:srgbClr val="E8E0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669280" y="1211580"/>
            <a:ext cx="3108960" cy="3241881"/>
          </a:xfrm>
          <a:prstGeom prst="rect">
            <a:avLst/>
          </a:prstGeom>
          <a:solidFill>
            <a:srgbClr val="1A1714"/>
          </a:solidFill>
          <a:ln/>
        </p:spPr>
        <p:txBody>
          <a:bodyPr/>
          <a:lstStyle/>
          <a:p>
            <a:endParaRPr lang="en-CA"/>
          </a:p>
        </p:txBody>
      </p:sp>
      <p:sp>
        <p:nvSpPr>
          <p:cNvPr id="4" name="Text 3"/>
          <p:cNvSpPr/>
          <p:nvPr/>
        </p:nvSpPr>
        <p:spPr>
          <a:xfrm>
            <a:off x="5943600" y="1296056"/>
            <a:ext cx="2560320" cy="365760"/>
          </a:xfrm>
          <a:prstGeom prst="rect">
            <a:avLst/>
          </a:prstGeom>
          <a:noFill/>
          <a:ln/>
        </p:spPr>
        <p:txBody>
          <a:bodyPr wrap="square" lIns="0" tIns="0" rIns="0" bIns="0" rtlCol="0" anchor="ctr"/>
          <a:lstStyle/>
          <a:p>
            <a:pPr marL="0" indent="0">
              <a:buNone/>
            </a:pPr>
            <a:r>
              <a:rPr lang="en-US" sz="2000" b="1" dirty="0">
                <a:solidFill>
                  <a:srgbClr val="D4A853"/>
                </a:solidFill>
                <a:latin typeface="Georgia" pitchFamily="34" charset="0"/>
              </a:rPr>
              <a:t>Platform Average</a:t>
            </a:r>
            <a:endParaRPr lang="en-US" sz="2000" dirty="0"/>
          </a:p>
        </p:txBody>
      </p:sp>
      <p:sp>
        <p:nvSpPr>
          <p:cNvPr id="7" name="Text 4"/>
          <p:cNvSpPr/>
          <p:nvPr/>
        </p:nvSpPr>
        <p:spPr>
          <a:xfrm>
            <a:off x="5943600" y="1581789"/>
            <a:ext cx="2560320" cy="274320"/>
          </a:xfrm>
          <a:prstGeom prst="rect">
            <a:avLst/>
          </a:prstGeom>
          <a:noFill/>
          <a:ln/>
        </p:spPr>
        <p:txBody>
          <a:bodyPr wrap="square" lIns="0" tIns="0" rIns="0" bIns="0" rtlCol="0" anchor="ctr"/>
          <a:lstStyle/>
          <a:p>
            <a:pPr marL="0" indent="0">
              <a:buNone/>
            </a:pPr>
            <a:r>
              <a:rPr lang="en-US" sz="1000" i="1" dirty="0">
                <a:solidFill>
                  <a:srgbClr val="8C8478"/>
                </a:solidFill>
                <a:latin typeface="Calibri" pitchFamily="34" charset="0"/>
                <a:ea typeface="Calibri" pitchFamily="34" charset="-122"/>
                <a:cs typeface="Calibri" pitchFamily="34" charset="-120"/>
              </a:rPr>
              <a:t>Calculated dynamically via Subquery</a:t>
            </a:r>
            <a:endParaRPr lang="en-US" sz="1000" dirty="0"/>
          </a:p>
        </p:txBody>
      </p:sp>
      <p:sp>
        <p:nvSpPr>
          <p:cNvPr id="8" name="Text 5"/>
          <p:cNvSpPr/>
          <p:nvPr/>
        </p:nvSpPr>
        <p:spPr>
          <a:xfrm>
            <a:off x="5943600" y="1912177"/>
            <a:ext cx="2560320" cy="320040"/>
          </a:xfrm>
          <a:prstGeom prst="rect">
            <a:avLst/>
          </a:prstGeom>
          <a:noFill/>
          <a:ln/>
        </p:spPr>
        <p:txBody>
          <a:bodyPr wrap="square" lIns="0" tIns="0" rIns="0" bIns="0" rtlCol="0" anchor="ctr"/>
          <a:lstStyle/>
          <a:p>
            <a:pPr marL="0" indent="0">
              <a:buNone/>
            </a:pPr>
            <a:r>
              <a:rPr lang="en-US" sz="2400" b="1" dirty="0">
                <a:solidFill>
                  <a:srgbClr val="E8734A"/>
                </a:solidFill>
                <a:latin typeface="Georgia" pitchFamily="34" charset="0"/>
              </a:rPr>
              <a:t>393,599 </a:t>
            </a:r>
            <a:r>
              <a:rPr lang="en-US" sz="2400" b="1" dirty="0" err="1">
                <a:solidFill>
                  <a:srgbClr val="E8734A"/>
                </a:solidFill>
                <a:latin typeface="Georgia" pitchFamily="34" charset="0"/>
              </a:rPr>
              <a:t>ms</a:t>
            </a:r>
            <a:endParaRPr lang="en-US" sz="2400" dirty="0"/>
          </a:p>
        </p:txBody>
      </p:sp>
      <p:sp>
        <p:nvSpPr>
          <p:cNvPr id="9" name="Text 6"/>
          <p:cNvSpPr/>
          <p:nvPr/>
        </p:nvSpPr>
        <p:spPr>
          <a:xfrm>
            <a:off x="5943600" y="2232217"/>
            <a:ext cx="2560320" cy="228600"/>
          </a:xfrm>
          <a:prstGeom prst="rect">
            <a:avLst/>
          </a:prstGeom>
          <a:noFill/>
          <a:ln/>
        </p:spPr>
        <p:txBody>
          <a:bodyPr wrap="square" lIns="0" tIns="0" rIns="0" bIns="0" rtlCol="0" anchor="ctr"/>
          <a:lstStyle/>
          <a:p>
            <a:pPr marL="0" indent="0">
              <a:buNone/>
            </a:pPr>
            <a:r>
              <a:rPr lang="en-US" sz="1000" dirty="0">
                <a:solidFill>
                  <a:srgbClr val="FDF6EC"/>
                </a:solidFill>
                <a:latin typeface="Calibri" pitchFamily="34" charset="0"/>
                <a:ea typeface="Calibri" pitchFamily="34" charset="-122"/>
                <a:cs typeface="Calibri" pitchFamily="34" charset="-120"/>
              </a:rPr>
              <a:t>Average track length across dataset</a:t>
            </a:r>
            <a:endParaRPr lang="en-US" sz="1000" dirty="0"/>
          </a:p>
        </p:txBody>
      </p:sp>
      <p:sp>
        <p:nvSpPr>
          <p:cNvPr id="10" name="Text 7"/>
          <p:cNvSpPr/>
          <p:nvPr/>
        </p:nvSpPr>
        <p:spPr>
          <a:xfrm>
            <a:off x="5943600" y="2702759"/>
            <a:ext cx="2560320" cy="320040"/>
          </a:xfrm>
          <a:prstGeom prst="rect">
            <a:avLst/>
          </a:prstGeom>
          <a:noFill/>
          <a:ln/>
        </p:spPr>
        <p:txBody>
          <a:bodyPr wrap="square" lIns="0" tIns="0" rIns="0" bIns="0" rtlCol="0" anchor="ctr"/>
          <a:lstStyle/>
          <a:p>
            <a:pPr marL="0" indent="0">
              <a:buNone/>
            </a:pPr>
            <a:r>
              <a:rPr lang="en-US" sz="2400" b="1" dirty="0">
                <a:solidFill>
                  <a:srgbClr val="E8734A"/>
                </a:solidFill>
                <a:latin typeface="Georgia" pitchFamily="34" charset="0"/>
              </a:rPr>
              <a:t>Core Metric</a:t>
            </a:r>
            <a:endParaRPr lang="en-US" sz="2400" dirty="0"/>
          </a:p>
        </p:txBody>
      </p:sp>
      <p:sp>
        <p:nvSpPr>
          <p:cNvPr id="11" name="Text 8"/>
          <p:cNvSpPr/>
          <p:nvPr/>
        </p:nvSpPr>
        <p:spPr>
          <a:xfrm>
            <a:off x="5943600" y="3022799"/>
            <a:ext cx="2560320" cy="228600"/>
          </a:xfrm>
          <a:prstGeom prst="rect">
            <a:avLst/>
          </a:prstGeom>
          <a:noFill/>
          <a:ln/>
        </p:spPr>
        <p:txBody>
          <a:bodyPr wrap="square" lIns="0" tIns="0" rIns="0" bIns="0" rtlCol="0" anchor="ctr"/>
          <a:lstStyle/>
          <a:p>
            <a:pPr marL="0" indent="0">
              <a:buNone/>
            </a:pPr>
            <a:r>
              <a:rPr lang="en-US" sz="1000" dirty="0">
                <a:solidFill>
                  <a:srgbClr val="FDF6EC"/>
                </a:solidFill>
                <a:latin typeface="Calibri" pitchFamily="34" charset="0"/>
                <a:ea typeface="Calibri" pitchFamily="34" charset="-122"/>
                <a:cs typeface="Calibri" pitchFamily="34" charset="-120"/>
              </a:rPr>
              <a:t>Calculated dynamically via an advanced SQL inline subquery</a:t>
            </a:r>
            <a:endParaRPr lang="en-US" sz="1000" dirty="0"/>
          </a:p>
        </p:txBody>
      </p:sp>
      <p:sp>
        <p:nvSpPr>
          <p:cNvPr id="12" name="Text 9"/>
          <p:cNvSpPr/>
          <p:nvPr/>
        </p:nvSpPr>
        <p:spPr>
          <a:xfrm>
            <a:off x="5943600" y="3532742"/>
            <a:ext cx="2560320" cy="320040"/>
          </a:xfrm>
          <a:prstGeom prst="rect">
            <a:avLst/>
          </a:prstGeom>
          <a:noFill/>
          <a:ln/>
        </p:spPr>
        <p:txBody>
          <a:bodyPr wrap="square" lIns="0" tIns="0" rIns="0" bIns="0" rtlCol="0" anchor="ctr"/>
          <a:lstStyle/>
          <a:p>
            <a:pPr marL="0" indent="0">
              <a:buNone/>
            </a:pPr>
            <a:r>
              <a:rPr lang="en-US" sz="2400" b="1" dirty="0">
                <a:solidFill>
                  <a:srgbClr val="E8734A"/>
                </a:solidFill>
                <a:latin typeface="Georgia" pitchFamily="34" charset="0"/>
              </a:rPr>
              <a:t>Visual Trend</a:t>
            </a:r>
            <a:endParaRPr lang="en-US" sz="2400" dirty="0"/>
          </a:p>
        </p:txBody>
      </p:sp>
      <p:sp>
        <p:nvSpPr>
          <p:cNvPr id="13" name="Text 10"/>
          <p:cNvSpPr/>
          <p:nvPr/>
        </p:nvSpPr>
        <p:spPr>
          <a:xfrm>
            <a:off x="5943600" y="3844072"/>
            <a:ext cx="2560320" cy="228600"/>
          </a:xfrm>
          <a:prstGeom prst="rect">
            <a:avLst/>
          </a:prstGeom>
          <a:noFill/>
          <a:ln/>
        </p:spPr>
        <p:txBody>
          <a:bodyPr wrap="square" lIns="0" tIns="0" rIns="0" bIns="0" rtlCol="0" anchor="ctr"/>
          <a:lstStyle/>
          <a:p>
            <a:pPr marL="0" indent="0">
              <a:buNone/>
            </a:pPr>
            <a:r>
              <a:rPr lang="en-US" sz="1000" dirty="0">
                <a:solidFill>
                  <a:srgbClr val="FDF6EC"/>
                </a:solidFill>
                <a:latin typeface="Calibri" pitchFamily="34" charset="0"/>
                <a:ea typeface="Calibri" pitchFamily="34" charset="-122"/>
                <a:cs typeface="Calibri" pitchFamily="34" charset="-120"/>
              </a:rPr>
              <a:t>Outlying long-form tracks heavily dominate our active classic rock catalog</a:t>
            </a:r>
            <a:endParaRPr lang="en-US" sz="1000" dirty="0"/>
          </a:p>
        </p:txBody>
      </p:sp>
      <p:pic>
        <p:nvPicPr>
          <p:cNvPr id="19" name="Picture 18" descr="The provided text appears to be a snippet of SQL code, specifically a SELECT statement that retrieves names and milliseconds from a table called 'track', filtering results to only include rows where the 'milliseconds' value is greater than the average milliseconds calculated from the same table.">
            <a:extLst>
              <a:ext uri="{FF2B5EF4-FFF2-40B4-BE49-F238E27FC236}">
                <a16:creationId xmlns:a16="http://schemas.microsoft.com/office/drawing/2014/main" id="{C05F8DAA-699A-1788-B862-9E772DE4D7F5}"/>
              </a:ext>
            </a:extLst>
          </p:cNvPr>
          <p:cNvPicPr>
            <a:picLocks noChangeAspect="1"/>
          </p:cNvPicPr>
          <p:nvPr/>
        </p:nvPicPr>
        <p:blipFill>
          <a:blip r:embed="rId3"/>
          <a:srcRect l="9205" t="39547" r="16352" b="22703"/>
          <a:stretch>
            <a:fillRect/>
          </a:stretch>
        </p:blipFill>
        <p:spPr>
          <a:xfrm>
            <a:off x="731520" y="3532742"/>
            <a:ext cx="4312820" cy="8512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EC"/>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marL="0" indent="0" algn="l">
              <a:buNone/>
            </a:pPr>
            <a:r>
              <a:rPr lang="en-US" sz="3200" b="1" dirty="0">
                <a:solidFill>
                  <a:srgbClr val="2D2A26"/>
                </a:solidFill>
                <a:latin typeface="Georgia" pitchFamily="34" charset="0"/>
                <a:ea typeface="Georgia" pitchFamily="34" charset="-122"/>
                <a:cs typeface="Georgia" pitchFamily="34" charset="-120"/>
              </a:rPr>
              <a:t>Global Genre Popularity Metrics</a:t>
            </a:r>
            <a:endParaRPr lang="en-US" sz="3200" dirty="0"/>
          </a:p>
        </p:txBody>
      </p:sp>
      <p:sp>
        <p:nvSpPr>
          <p:cNvPr id="3" name="Text 1"/>
          <p:cNvSpPr/>
          <p:nvPr/>
        </p:nvSpPr>
        <p:spPr>
          <a:xfrm>
            <a:off x="731520" y="914400"/>
            <a:ext cx="7315200" cy="320040"/>
          </a:xfrm>
          <a:prstGeom prst="rect">
            <a:avLst/>
          </a:prstGeom>
          <a:noFill/>
          <a:ln/>
        </p:spPr>
        <p:txBody>
          <a:bodyPr wrap="square" lIns="0" tIns="0" rIns="0" bIns="0" rtlCol="0" anchor="ctr"/>
          <a:lstStyle/>
          <a:p>
            <a:pPr marL="0" indent="0" algn="l">
              <a:buNone/>
            </a:pPr>
            <a:r>
              <a:rPr lang="en-US" sz="1300" i="1" dirty="0">
                <a:solidFill>
                  <a:srgbClr val="8C8478"/>
                </a:solidFill>
                <a:latin typeface="Calibri" pitchFamily="34" charset="0"/>
                <a:ea typeface="Calibri" pitchFamily="34" charset="-122"/>
                <a:cs typeface="Calibri" pitchFamily="34" charset="-120"/>
              </a:rPr>
              <a:t>Analyzing Regional Consumer Affinities for Target Content Licensing</a:t>
            </a:r>
            <a:endParaRPr lang="en-US" sz="1300" dirty="0"/>
          </a:p>
        </p:txBody>
      </p:sp>
      <p:sp>
        <p:nvSpPr>
          <p:cNvPr id="5" name="Shape 2"/>
          <p:cNvSpPr/>
          <p:nvPr/>
        </p:nvSpPr>
        <p:spPr>
          <a:xfrm>
            <a:off x="789654" y="3918204"/>
            <a:ext cx="137160" cy="137160"/>
          </a:xfrm>
          <a:prstGeom prst="ellipse">
            <a:avLst/>
          </a:prstGeom>
          <a:solidFill>
            <a:srgbClr val="E8734A"/>
          </a:solidFill>
          <a:ln/>
        </p:spPr>
        <p:txBody>
          <a:bodyPr/>
          <a:lstStyle/>
          <a:p>
            <a:endParaRPr lang="en-CA"/>
          </a:p>
        </p:txBody>
      </p:sp>
      <p:sp>
        <p:nvSpPr>
          <p:cNvPr id="6" name="Text 3"/>
          <p:cNvSpPr/>
          <p:nvPr/>
        </p:nvSpPr>
        <p:spPr>
          <a:xfrm>
            <a:off x="1018254" y="3786585"/>
            <a:ext cx="3520440" cy="731520"/>
          </a:xfrm>
          <a:prstGeom prst="rect">
            <a:avLst/>
          </a:prstGeom>
          <a:noFill/>
          <a:ln/>
        </p:spPr>
        <p:txBody>
          <a:bodyPr wrap="square" lIns="0" tIns="0" rIns="0" bIns="0" rtlCol="0" anchor="t"/>
          <a:lstStyle/>
          <a:p>
            <a:pPr marL="0" indent="0">
              <a:buNone/>
            </a:pPr>
            <a:r>
              <a:rPr lang="en-US" sz="1300" b="1" dirty="0">
                <a:solidFill>
                  <a:srgbClr val="2D2A26"/>
                </a:solidFill>
                <a:latin typeface="Calibri" pitchFamily="34" charset="0"/>
                <a:ea typeface="Calibri" pitchFamily="34" charset="-122"/>
                <a:cs typeface="Calibri" pitchFamily="34" charset="-120"/>
              </a:rPr>
              <a:t>Business Insight</a:t>
            </a:r>
            <a:endParaRPr lang="en-US" sz="1300" dirty="0"/>
          </a:p>
          <a:p>
            <a:r>
              <a:rPr lang="en-CA" sz="1000" dirty="0">
                <a:solidFill>
                  <a:schemeClr val="bg2">
                    <a:lumMod val="50000"/>
                  </a:schemeClr>
                </a:solidFill>
              </a:rPr>
              <a:t>Relational data proves that Rock music serves as our primary global consumer acquisition funnel.</a:t>
            </a:r>
            <a:endParaRPr lang="en-US" sz="1300" dirty="0">
              <a:solidFill>
                <a:schemeClr val="bg2">
                  <a:lumMod val="50000"/>
                </a:schemeClr>
              </a:solidFill>
            </a:endParaRPr>
          </a:p>
        </p:txBody>
      </p:sp>
      <p:sp>
        <p:nvSpPr>
          <p:cNvPr id="7" name="Shape 4"/>
          <p:cNvSpPr/>
          <p:nvPr/>
        </p:nvSpPr>
        <p:spPr>
          <a:xfrm>
            <a:off x="787989" y="1483134"/>
            <a:ext cx="137160" cy="137160"/>
          </a:xfrm>
          <a:prstGeom prst="ellipse">
            <a:avLst/>
          </a:prstGeom>
          <a:solidFill>
            <a:srgbClr val="D4A853"/>
          </a:solidFill>
          <a:ln/>
        </p:spPr>
        <p:txBody>
          <a:bodyPr/>
          <a:lstStyle/>
          <a:p>
            <a:endParaRPr lang="en-CA"/>
          </a:p>
        </p:txBody>
      </p:sp>
      <p:sp>
        <p:nvSpPr>
          <p:cNvPr id="8" name="Text 5"/>
          <p:cNvSpPr/>
          <p:nvPr/>
        </p:nvSpPr>
        <p:spPr>
          <a:xfrm>
            <a:off x="1018254" y="1391694"/>
            <a:ext cx="3520440" cy="731520"/>
          </a:xfrm>
          <a:prstGeom prst="rect">
            <a:avLst/>
          </a:prstGeom>
          <a:noFill/>
          <a:ln/>
        </p:spPr>
        <p:txBody>
          <a:bodyPr wrap="square" lIns="0" tIns="0" rIns="0" bIns="0" rtlCol="0" anchor="t"/>
          <a:lstStyle/>
          <a:p>
            <a:pPr marL="0" indent="0">
              <a:buNone/>
            </a:pPr>
            <a:r>
              <a:rPr lang="en-US" sz="1300" b="1" dirty="0">
                <a:solidFill>
                  <a:srgbClr val="2D2A26"/>
                </a:solidFill>
                <a:latin typeface="Calibri" pitchFamily="34" charset="0"/>
                <a:ea typeface="Calibri" pitchFamily="34" charset="-122"/>
                <a:cs typeface="Calibri" pitchFamily="34" charset="-120"/>
              </a:rPr>
              <a:t>Technical Architecture </a:t>
            </a:r>
            <a:endParaRPr lang="en-US" sz="1300" dirty="0"/>
          </a:p>
          <a:p>
            <a:r>
              <a:rPr lang="en-CA" sz="1000" dirty="0">
                <a:solidFill>
                  <a:schemeClr val="bg2">
                    <a:lumMod val="50000"/>
                  </a:schemeClr>
                </a:solidFill>
              </a:rPr>
              <a:t>Employs an advanced </a:t>
            </a:r>
            <a:r>
              <a:rPr lang="en-CA" sz="1000" b="1" dirty="0">
                <a:solidFill>
                  <a:schemeClr val="bg2">
                    <a:lumMod val="50000"/>
                  </a:schemeClr>
                </a:solidFill>
              </a:rPr>
              <a:t>SQL Window Function (ROW_NUMBER() OVER) </a:t>
            </a:r>
            <a:r>
              <a:rPr lang="en-CA" sz="1000" dirty="0">
                <a:solidFill>
                  <a:schemeClr val="bg2">
                    <a:lumMod val="50000"/>
                  </a:schemeClr>
                </a:solidFill>
              </a:rPr>
              <a:t>nested inside a </a:t>
            </a:r>
            <a:r>
              <a:rPr lang="en-CA" sz="1000" b="1" dirty="0">
                <a:solidFill>
                  <a:schemeClr val="bg2">
                    <a:lumMod val="50000"/>
                  </a:schemeClr>
                </a:solidFill>
              </a:rPr>
              <a:t>Common Table Expression (CTE)</a:t>
            </a:r>
            <a:r>
              <a:rPr lang="en-CA" sz="1000" dirty="0">
                <a:solidFill>
                  <a:schemeClr val="bg2">
                    <a:lumMod val="50000"/>
                  </a:schemeClr>
                </a:solidFill>
              </a:rPr>
              <a:t>.</a:t>
            </a:r>
            <a:endParaRPr lang="en-US" sz="1000" b="1" dirty="0">
              <a:solidFill>
                <a:schemeClr val="bg2">
                  <a:lumMod val="50000"/>
                </a:schemeClr>
              </a:solidFill>
            </a:endParaRPr>
          </a:p>
        </p:txBody>
      </p:sp>
      <p:sp>
        <p:nvSpPr>
          <p:cNvPr id="9" name="Shape 6"/>
          <p:cNvSpPr/>
          <p:nvPr/>
        </p:nvSpPr>
        <p:spPr>
          <a:xfrm>
            <a:off x="4873570" y="1477896"/>
            <a:ext cx="137160" cy="137160"/>
          </a:xfrm>
          <a:prstGeom prst="ellipse">
            <a:avLst/>
          </a:prstGeom>
          <a:solidFill>
            <a:srgbClr val="8C8478"/>
          </a:solidFill>
          <a:ln/>
        </p:spPr>
        <p:txBody>
          <a:bodyPr/>
          <a:lstStyle/>
          <a:p>
            <a:endParaRPr lang="en-CA"/>
          </a:p>
        </p:txBody>
      </p:sp>
      <p:sp>
        <p:nvSpPr>
          <p:cNvPr id="10" name="Text 7"/>
          <p:cNvSpPr/>
          <p:nvPr/>
        </p:nvSpPr>
        <p:spPr>
          <a:xfrm>
            <a:off x="5166360" y="1391694"/>
            <a:ext cx="3520440" cy="731520"/>
          </a:xfrm>
          <a:prstGeom prst="rect">
            <a:avLst/>
          </a:prstGeom>
          <a:noFill/>
          <a:ln/>
        </p:spPr>
        <p:txBody>
          <a:bodyPr wrap="square" lIns="0" tIns="0" rIns="0" bIns="0" rtlCol="0" anchor="t"/>
          <a:lstStyle/>
          <a:p>
            <a:pPr marL="0" indent="0">
              <a:buNone/>
            </a:pPr>
            <a:r>
              <a:rPr lang="en-US" sz="1300" b="1" dirty="0">
                <a:solidFill>
                  <a:srgbClr val="2D2A26"/>
                </a:solidFill>
                <a:latin typeface="Calibri" pitchFamily="34" charset="0"/>
                <a:ea typeface="Calibri" pitchFamily="34" charset="-122"/>
                <a:cs typeface="Calibri" pitchFamily="34" charset="-120"/>
              </a:rPr>
              <a:t>Core Finding </a:t>
            </a:r>
            <a:endParaRPr lang="en-US" sz="1300" dirty="0"/>
          </a:p>
          <a:p>
            <a:r>
              <a:rPr lang="en-CA" sz="1000" b="1" dirty="0">
                <a:solidFill>
                  <a:schemeClr val="bg2">
                    <a:lumMod val="50000"/>
                  </a:schemeClr>
                </a:solidFill>
              </a:rPr>
              <a:t>Rock Music</a:t>
            </a:r>
            <a:r>
              <a:rPr lang="en-CA" sz="1000" dirty="0">
                <a:solidFill>
                  <a:schemeClr val="bg2">
                    <a:lumMod val="50000"/>
                  </a:schemeClr>
                </a:solidFill>
              </a:rPr>
              <a:t> is verified as the undisputed #1 dominant music genre  across nearly every international </a:t>
            </a:r>
            <a:r>
              <a:rPr lang="en-CA" sz="1000" dirty="0" err="1">
                <a:solidFill>
                  <a:schemeClr val="bg2">
                    <a:lumMod val="50000"/>
                  </a:schemeClr>
                </a:solidFill>
              </a:rPr>
              <a:t>boun</a:t>
            </a:r>
            <a:endParaRPr lang="en-CA" sz="1000" dirty="0">
              <a:solidFill>
                <a:schemeClr val="bg2">
                  <a:lumMod val="50000"/>
                </a:schemeClr>
              </a:solidFill>
            </a:endParaRPr>
          </a:p>
          <a:p>
            <a:endParaRPr lang="en-CA" sz="1000" dirty="0">
              <a:solidFill>
                <a:schemeClr val="bg2">
                  <a:lumMod val="50000"/>
                </a:schemeClr>
              </a:solidFill>
            </a:endParaRPr>
          </a:p>
          <a:p>
            <a:endParaRPr lang="en-CA" sz="1000" dirty="0">
              <a:solidFill>
                <a:schemeClr val="bg2">
                  <a:lumMod val="50000"/>
                </a:schemeClr>
              </a:solidFill>
            </a:endParaRPr>
          </a:p>
          <a:p>
            <a:endParaRPr lang="en-CA" sz="1000" dirty="0">
              <a:solidFill>
                <a:schemeClr val="bg2">
                  <a:lumMod val="50000"/>
                </a:schemeClr>
              </a:solidFill>
            </a:endParaRPr>
          </a:p>
          <a:p>
            <a:endParaRPr lang="en-CA" sz="1000" dirty="0">
              <a:solidFill>
                <a:schemeClr val="bg2">
                  <a:lumMod val="50000"/>
                </a:schemeClr>
              </a:solidFill>
            </a:endParaRPr>
          </a:p>
          <a:p>
            <a:endParaRPr lang="en-CA" sz="1000" dirty="0">
              <a:solidFill>
                <a:schemeClr val="bg2">
                  <a:lumMod val="50000"/>
                </a:schemeClr>
              </a:solidFill>
            </a:endParaRPr>
          </a:p>
          <a:p>
            <a:endParaRPr lang="en-CA" sz="1000" dirty="0">
              <a:solidFill>
                <a:schemeClr val="bg2">
                  <a:lumMod val="50000"/>
                </a:schemeClr>
              </a:solidFill>
            </a:endParaRPr>
          </a:p>
          <a:p>
            <a:r>
              <a:rPr lang="en-CA" sz="1000" dirty="0" err="1">
                <a:solidFill>
                  <a:schemeClr val="bg2">
                    <a:lumMod val="50000"/>
                  </a:schemeClr>
                </a:solidFill>
              </a:rPr>
              <a:t>dary</a:t>
            </a:r>
            <a:r>
              <a:rPr lang="en-CA" sz="1000" dirty="0">
                <a:solidFill>
                  <a:schemeClr val="bg2">
                    <a:lumMod val="50000"/>
                  </a:schemeClr>
                </a:solidFill>
              </a:rPr>
              <a:t>.</a:t>
            </a:r>
            <a:endParaRPr lang="en-US" sz="1000" dirty="0">
              <a:solidFill>
                <a:schemeClr val="bg2">
                  <a:lumMod val="50000"/>
                </a:schemeClr>
              </a:solidFill>
            </a:endParaRPr>
          </a:p>
        </p:txBody>
      </p:sp>
      <p:sp>
        <p:nvSpPr>
          <p:cNvPr id="11" name="Shape 8"/>
          <p:cNvSpPr/>
          <p:nvPr/>
        </p:nvSpPr>
        <p:spPr>
          <a:xfrm>
            <a:off x="4937760" y="3849624"/>
            <a:ext cx="137160" cy="137160"/>
          </a:xfrm>
          <a:prstGeom prst="ellipse">
            <a:avLst/>
          </a:prstGeom>
          <a:solidFill>
            <a:srgbClr val="2D2A26"/>
          </a:solidFill>
          <a:ln/>
        </p:spPr>
        <p:txBody>
          <a:bodyPr/>
          <a:lstStyle/>
          <a:p>
            <a:endParaRPr lang="en-CA"/>
          </a:p>
        </p:txBody>
      </p:sp>
      <p:sp>
        <p:nvSpPr>
          <p:cNvPr id="12" name="Text 9"/>
          <p:cNvSpPr/>
          <p:nvPr/>
        </p:nvSpPr>
        <p:spPr>
          <a:xfrm>
            <a:off x="5166360" y="3794760"/>
            <a:ext cx="3520440" cy="731520"/>
          </a:xfrm>
          <a:prstGeom prst="rect">
            <a:avLst/>
          </a:prstGeom>
          <a:noFill/>
          <a:ln/>
        </p:spPr>
        <p:txBody>
          <a:bodyPr wrap="square" lIns="0" tIns="0" rIns="0" bIns="0" rtlCol="0" anchor="t"/>
          <a:lstStyle/>
          <a:p>
            <a:pPr marL="0" indent="0">
              <a:buNone/>
            </a:pPr>
            <a:r>
              <a:rPr lang="en-US" sz="1300" b="1" dirty="0">
                <a:solidFill>
                  <a:srgbClr val="2D2A26"/>
                </a:solidFill>
                <a:latin typeface="Calibri" pitchFamily="34" charset="0"/>
                <a:ea typeface="Calibri" pitchFamily="34" charset="-122"/>
                <a:cs typeface="Calibri" pitchFamily="34" charset="-120"/>
              </a:rPr>
              <a:t>Strategic Recommendation</a:t>
            </a:r>
            <a:endParaRPr lang="en-US" sz="1300" dirty="0"/>
          </a:p>
          <a:p>
            <a:r>
              <a:rPr lang="en-CA" sz="1000" dirty="0">
                <a:solidFill>
                  <a:schemeClr val="bg2">
                    <a:lumMod val="50000"/>
                  </a:schemeClr>
                </a:solidFill>
              </a:rPr>
              <a:t>Content licensing and procurement budgets should prioritize premium Rock music catalogs to maximize international user growth.</a:t>
            </a:r>
            <a:br>
              <a:rPr lang="en-CA" sz="1000" dirty="0"/>
            </a:br>
            <a:endParaRPr lang="en-CA" sz="1000" dirty="0"/>
          </a:p>
        </p:txBody>
      </p:sp>
      <p:pic>
        <p:nvPicPr>
          <p:cNvPr id="14" name="Picture 13" descr="The image displays a SQL query result, showing the top purchased genres for each country, with the number of purchases and genre names.">
            <a:extLst>
              <a:ext uri="{FF2B5EF4-FFF2-40B4-BE49-F238E27FC236}">
                <a16:creationId xmlns:a16="http://schemas.microsoft.com/office/drawing/2014/main" id="{DAB60FEC-22CD-3D33-56C3-435BD264A701}"/>
              </a:ext>
            </a:extLst>
          </p:cNvPr>
          <p:cNvPicPr>
            <a:picLocks noChangeAspect="1"/>
          </p:cNvPicPr>
          <p:nvPr/>
        </p:nvPicPr>
        <p:blipFill>
          <a:blip r:embed="rId3"/>
          <a:srcRect l="6358" t="25088" r="6424" b="18340"/>
          <a:stretch>
            <a:fillRect/>
          </a:stretch>
        </p:blipFill>
        <p:spPr>
          <a:xfrm>
            <a:off x="731520" y="2187317"/>
            <a:ext cx="5185630" cy="1420988"/>
          </a:xfrm>
          <a:prstGeom prst="rect">
            <a:avLst/>
          </a:prstGeom>
        </p:spPr>
      </p:pic>
      <p:graphicFrame>
        <p:nvGraphicFramePr>
          <p:cNvPr id="15" name="Chart 14">
            <a:extLst>
              <a:ext uri="{FF2B5EF4-FFF2-40B4-BE49-F238E27FC236}">
                <a16:creationId xmlns:a16="http://schemas.microsoft.com/office/drawing/2014/main" id="{35701938-3626-7986-D841-395F8B560B96}"/>
              </a:ext>
            </a:extLst>
          </p:cNvPr>
          <p:cNvGraphicFramePr>
            <a:graphicFrameLocks/>
          </p:cNvGraphicFramePr>
          <p:nvPr>
            <p:extLst>
              <p:ext uri="{D42A27DB-BD31-4B8C-83A1-F6EECF244321}">
                <p14:modId xmlns:p14="http://schemas.microsoft.com/office/powerpoint/2010/main" val="2055161312"/>
              </p:ext>
            </p:extLst>
          </p:nvPr>
        </p:nvGraphicFramePr>
        <p:xfrm>
          <a:off x="5772352" y="2006635"/>
          <a:ext cx="2981060" cy="169489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714"/>
        </a:solidFill>
        <a:effectLst/>
      </p:bgPr>
    </p:bg>
    <p:spTree>
      <p:nvGrpSpPr>
        <p:cNvPr id="1" name=""/>
        <p:cNvGrpSpPr/>
        <p:nvPr/>
      </p:nvGrpSpPr>
      <p:grpSpPr>
        <a:xfrm>
          <a:off x="0" y="0"/>
          <a:ext cx="0" cy="0"/>
          <a:chOff x="0" y="0"/>
          <a:chExt cx="0" cy="0"/>
        </a:xfrm>
      </p:grpSpPr>
      <p:sp>
        <p:nvSpPr>
          <p:cNvPr id="2" name="Text 0"/>
          <p:cNvSpPr/>
          <p:nvPr/>
        </p:nvSpPr>
        <p:spPr>
          <a:xfrm>
            <a:off x="731520" y="457200"/>
            <a:ext cx="7315200" cy="640080"/>
          </a:xfrm>
          <a:prstGeom prst="rect">
            <a:avLst/>
          </a:prstGeom>
          <a:noFill/>
          <a:ln/>
        </p:spPr>
        <p:txBody>
          <a:bodyPr wrap="square" lIns="0" tIns="0" rIns="0" bIns="0" rtlCol="0" anchor="ctr"/>
          <a:lstStyle/>
          <a:p>
            <a:pPr marL="0" indent="0" algn="l">
              <a:buNone/>
            </a:pPr>
            <a:r>
              <a:rPr lang="en-US" sz="3600" b="1" dirty="0">
                <a:solidFill>
                  <a:srgbClr val="FDF6EC"/>
                </a:solidFill>
                <a:latin typeface="Georgia" pitchFamily="34" charset="0"/>
              </a:rPr>
              <a:t>Strategic Business Summary</a:t>
            </a:r>
            <a:endParaRPr lang="en-US" sz="3600" dirty="0"/>
          </a:p>
        </p:txBody>
      </p:sp>
      <p:sp>
        <p:nvSpPr>
          <p:cNvPr id="3" name="Shape 1"/>
          <p:cNvSpPr/>
          <p:nvPr/>
        </p:nvSpPr>
        <p:spPr>
          <a:xfrm>
            <a:off x="731520" y="1051560"/>
            <a:ext cx="1371600" cy="45720"/>
          </a:xfrm>
          <a:prstGeom prst="rect">
            <a:avLst/>
          </a:prstGeom>
          <a:solidFill>
            <a:srgbClr val="E8734A"/>
          </a:solidFill>
          <a:ln/>
        </p:spPr>
        <p:txBody>
          <a:bodyPr/>
          <a:lstStyle/>
          <a:p>
            <a:endParaRPr lang="en-CA"/>
          </a:p>
        </p:txBody>
      </p:sp>
      <p:sp>
        <p:nvSpPr>
          <p:cNvPr id="4" name="Text 2"/>
          <p:cNvSpPr/>
          <p:nvPr/>
        </p:nvSpPr>
        <p:spPr>
          <a:xfrm>
            <a:off x="731520" y="1600200"/>
            <a:ext cx="548640" cy="320040"/>
          </a:xfrm>
          <a:prstGeom prst="rect">
            <a:avLst/>
          </a:prstGeom>
          <a:noFill/>
          <a:ln/>
        </p:spPr>
        <p:txBody>
          <a:bodyPr wrap="square" lIns="0" tIns="0" rIns="0" bIns="0" rtlCol="0" anchor="ctr"/>
          <a:lstStyle/>
          <a:p>
            <a:pPr marL="0" indent="0">
              <a:buNone/>
            </a:pPr>
            <a:r>
              <a:rPr lang="en-US" sz="1800" b="1" dirty="0">
                <a:solidFill>
                  <a:srgbClr val="D4A853"/>
                </a:solidFill>
                <a:latin typeface="Georgia" pitchFamily="34" charset="0"/>
                <a:ea typeface="Georgia" pitchFamily="34" charset="-122"/>
                <a:cs typeface="Georgia" pitchFamily="34" charset="-120"/>
              </a:rPr>
              <a:t>01</a:t>
            </a:r>
            <a:endParaRPr lang="en-US" sz="1800" dirty="0"/>
          </a:p>
        </p:txBody>
      </p:sp>
      <p:sp>
        <p:nvSpPr>
          <p:cNvPr id="5" name="Text 3"/>
          <p:cNvSpPr/>
          <p:nvPr/>
        </p:nvSpPr>
        <p:spPr>
          <a:xfrm>
            <a:off x="1371600" y="1647434"/>
            <a:ext cx="6858000" cy="274320"/>
          </a:xfrm>
          <a:prstGeom prst="rect">
            <a:avLst/>
          </a:prstGeom>
          <a:noFill/>
          <a:ln/>
        </p:spPr>
        <p:txBody>
          <a:bodyPr wrap="square" lIns="0" tIns="0" rIns="0" bIns="0" rtlCol="0" anchor="ctr"/>
          <a:lstStyle/>
          <a:p>
            <a:pPr marL="0" indent="0">
              <a:buNone/>
            </a:pPr>
            <a:r>
              <a:rPr lang="en-US" sz="1500" b="1" dirty="0">
                <a:solidFill>
                  <a:srgbClr val="FDF6EC"/>
                </a:solidFill>
                <a:latin typeface="Georgia" pitchFamily="34" charset="0"/>
              </a:rPr>
              <a:t>Geographic Reallocation </a:t>
            </a:r>
            <a:endParaRPr lang="en-US" sz="1500" dirty="0"/>
          </a:p>
        </p:txBody>
      </p:sp>
      <p:sp>
        <p:nvSpPr>
          <p:cNvPr id="6" name="Text 4"/>
          <p:cNvSpPr/>
          <p:nvPr/>
        </p:nvSpPr>
        <p:spPr>
          <a:xfrm>
            <a:off x="1371600" y="1874520"/>
            <a:ext cx="6858000" cy="411480"/>
          </a:xfrm>
          <a:prstGeom prst="rect">
            <a:avLst/>
          </a:prstGeom>
          <a:noFill/>
          <a:ln/>
        </p:spPr>
        <p:txBody>
          <a:bodyPr wrap="square" lIns="0" tIns="0" rIns="0" bIns="0" rtlCol="0" anchor="t"/>
          <a:lstStyle/>
          <a:p>
            <a:pPr marL="0" indent="0">
              <a:buNone/>
            </a:pPr>
            <a:r>
              <a:rPr lang="en-US" sz="1050" dirty="0">
                <a:solidFill>
                  <a:srgbClr val="8C8478"/>
                </a:solidFill>
                <a:latin typeface="Calibri" pitchFamily="34" charset="0"/>
                <a:ea typeface="Calibri" pitchFamily="34" charset="-122"/>
                <a:cs typeface="Calibri" pitchFamily="34" charset="-120"/>
              </a:rPr>
              <a:t>Shift 15% of broader digital marketing capital toward hyper-local advertisements inside high-yield markets like </a:t>
            </a:r>
            <a:r>
              <a:rPr lang="en-US" sz="1050" b="1" dirty="0">
                <a:solidFill>
                  <a:srgbClr val="8C8478"/>
                </a:solidFill>
                <a:latin typeface="Calibri" pitchFamily="34" charset="0"/>
                <a:ea typeface="Calibri" pitchFamily="34" charset="-122"/>
                <a:cs typeface="Calibri" pitchFamily="34" charset="-120"/>
              </a:rPr>
              <a:t>Prague</a:t>
            </a:r>
            <a:r>
              <a:rPr lang="en-US" sz="1050" dirty="0">
                <a:solidFill>
                  <a:srgbClr val="8C8478"/>
                </a:solidFill>
                <a:latin typeface="Calibri" pitchFamily="34" charset="0"/>
                <a:ea typeface="Calibri" pitchFamily="34" charset="-122"/>
                <a:cs typeface="Calibri" pitchFamily="34" charset="-120"/>
              </a:rPr>
              <a:t>.</a:t>
            </a:r>
            <a:endParaRPr lang="en-US" sz="1050" dirty="0"/>
          </a:p>
        </p:txBody>
      </p:sp>
      <p:sp>
        <p:nvSpPr>
          <p:cNvPr id="7" name="Text 5"/>
          <p:cNvSpPr/>
          <p:nvPr/>
        </p:nvSpPr>
        <p:spPr>
          <a:xfrm>
            <a:off x="731520" y="2537460"/>
            <a:ext cx="548640" cy="320040"/>
          </a:xfrm>
          <a:prstGeom prst="rect">
            <a:avLst/>
          </a:prstGeom>
          <a:noFill/>
          <a:ln/>
        </p:spPr>
        <p:txBody>
          <a:bodyPr wrap="square" lIns="0" tIns="0" rIns="0" bIns="0" rtlCol="0" anchor="ctr"/>
          <a:lstStyle/>
          <a:p>
            <a:pPr marL="0" indent="0">
              <a:buNone/>
            </a:pPr>
            <a:r>
              <a:rPr lang="en-US" sz="1800" b="1" dirty="0">
                <a:solidFill>
                  <a:srgbClr val="D4A853"/>
                </a:solidFill>
                <a:latin typeface="Georgia" pitchFamily="34" charset="0"/>
                <a:ea typeface="Georgia" pitchFamily="34" charset="-122"/>
                <a:cs typeface="Georgia" pitchFamily="34" charset="-120"/>
              </a:rPr>
              <a:t>02</a:t>
            </a:r>
            <a:endParaRPr lang="en-US" sz="1800" dirty="0"/>
          </a:p>
        </p:txBody>
      </p:sp>
      <p:sp>
        <p:nvSpPr>
          <p:cNvPr id="8" name="Text 6"/>
          <p:cNvSpPr/>
          <p:nvPr/>
        </p:nvSpPr>
        <p:spPr>
          <a:xfrm>
            <a:off x="1371600" y="2560320"/>
            <a:ext cx="6858000" cy="274320"/>
          </a:xfrm>
          <a:prstGeom prst="rect">
            <a:avLst/>
          </a:prstGeom>
          <a:noFill/>
          <a:ln/>
        </p:spPr>
        <p:txBody>
          <a:bodyPr wrap="square" lIns="0" tIns="0" rIns="0" bIns="0" rtlCol="0" anchor="ctr"/>
          <a:lstStyle/>
          <a:p>
            <a:pPr marL="0" indent="0">
              <a:buNone/>
            </a:pPr>
            <a:r>
              <a:rPr lang="en-US" sz="1500" b="1" dirty="0">
                <a:solidFill>
                  <a:srgbClr val="FDF6EC"/>
                </a:solidFill>
                <a:latin typeface="Georgia" pitchFamily="34" charset="0"/>
                <a:ea typeface="Georgia" pitchFamily="34" charset="-122"/>
                <a:cs typeface="Georgia" pitchFamily="34" charset="-120"/>
              </a:rPr>
              <a:t>Loyalty Infrastructure </a:t>
            </a:r>
            <a:endParaRPr lang="en-US" sz="1500" dirty="0"/>
          </a:p>
        </p:txBody>
      </p:sp>
      <p:sp>
        <p:nvSpPr>
          <p:cNvPr id="9" name="Text 7"/>
          <p:cNvSpPr/>
          <p:nvPr/>
        </p:nvSpPr>
        <p:spPr>
          <a:xfrm>
            <a:off x="1371600" y="2811780"/>
            <a:ext cx="6858000" cy="411480"/>
          </a:xfrm>
          <a:prstGeom prst="rect">
            <a:avLst/>
          </a:prstGeom>
          <a:noFill/>
          <a:ln/>
        </p:spPr>
        <p:txBody>
          <a:bodyPr wrap="square" lIns="0" tIns="0" rIns="0" bIns="0" rtlCol="0" anchor="t"/>
          <a:lstStyle/>
          <a:p>
            <a:r>
              <a:rPr lang="en-US" sz="1050" dirty="0">
                <a:solidFill>
                  <a:srgbClr val="8C8478"/>
                </a:solidFill>
                <a:latin typeface="Calibri" pitchFamily="34" charset="0"/>
                <a:ea typeface="Calibri" pitchFamily="34" charset="-122"/>
                <a:cs typeface="Calibri" pitchFamily="34" charset="-120"/>
              </a:rPr>
              <a:t>Launch exclusive VIP early access perks and personalized rewards structures for top-tier spenders (modeled after profiles like </a:t>
            </a:r>
            <a:r>
              <a:rPr lang="en-CA" sz="1050" dirty="0">
                <a:solidFill>
                  <a:srgbClr val="8C8478"/>
                </a:solidFill>
              </a:rPr>
              <a:t>František). </a:t>
            </a:r>
            <a:endParaRPr lang="en-US" sz="1050" dirty="0">
              <a:solidFill>
                <a:srgbClr val="8C8478"/>
              </a:solidFill>
            </a:endParaRPr>
          </a:p>
        </p:txBody>
      </p:sp>
      <p:sp>
        <p:nvSpPr>
          <p:cNvPr id="10" name="Text 8"/>
          <p:cNvSpPr/>
          <p:nvPr/>
        </p:nvSpPr>
        <p:spPr>
          <a:xfrm>
            <a:off x="731520" y="3474720"/>
            <a:ext cx="548640" cy="320040"/>
          </a:xfrm>
          <a:prstGeom prst="rect">
            <a:avLst/>
          </a:prstGeom>
          <a:noFill/>
          <a:ln/>
        </p:spPr>
        <p:txBody>
          <a:bodyPr wrap="square" lIns="0" tIns="0" rIns="0" bIns="0" rtlCol="0" anchor="ctr"/>
          <a:lstStyle/>
          <a:p>
            <a:pPr marL="0" indent="0">
              <a:buNone/>
            </a:pPr>
            <a:r>
              <a:rPr lang="en-US" sz="1800" b="1" dirty="0">
                <a:solidFill>
                  <a:srgbClr val="D4A853"/>
                </a:solidFill>
                <a:latin typeface="Georgia" pitchFamily="34" charset="0"/>
                <a:ea typeface="Georgia" pitchFamily="34" charset="-122"/>
                <a:cs typeface="Georgia" pitchFamily="34" charset="-120"/>
              </a:rPr>
              <a:t>03</a:t>
            </a:r>
            <a:endParaRPr lang="en-US" sz="1800" dirty="0"/>
          </a:p>
        </p:txBody>
      </p:sp>
      <p:sp>
        <p:nvSpPr>
          <p:cNvPr id="11" name="Text 9"/>
          <p:cNvSpPr/>
          <p:nvPr/>
        </p:nvSpPr>
        <p:spPr>
          <a:xfrm>
            <a:off x="1371600" y="3497580"/>
            <a:ext cx="6858000" cy="274320"/>
          </a:xfrm>
          <a:prstGeom prst="rect">
            <a:avLst/>
          </a:prstGeom>
          <a:noFill/>
          <a:ln/>
        </p:spPr>
        <p:txBody>
          <a:bodyPr wrap="square" lIns="0" tIns="0" rIns="0" bIns="0" rtlCol="0" anchor="ctr"/>
          <a:lstStyle/>
          <a:p>
            <a:pPr marL="0" indent="0">
              <a:buNone/>
            </a:pPr>
            <a:r>
              <a:rPr lang="en-US" sz="1500" b="1" dirty="0">
                <a:solidFill>
                  <a:srgbClr val="FDF6EC"/>
                </a:solidFill>
                <a:latin typeface="Georgia" pitchFamily="34" charset="0"/>
              </a:rPr>
              <a:t>Content Curation </a:t>
            </a:r>
            <a:endParaRPr lang="en-US" sz="1500" dirty="0"/>
          </a:p>
        </p:txBody>
      </p:sp>
      <p:sp>
        <p:nvSpPr>
          <p:cNvPr id="12" name="Text 10"/>
          <p:cNvSpPr/>
          <p:nvPr/>
        </p:nvSpPr>
        <p:spPr>
          <a:xfrm>
            <a:off x="1371600" y="3749040"/>
            <a:ext cx="6858000" cy="411480"/>
          </a:xfrm>
          <a:prstGeom prst="rect">
            <a:avLst/>
          </a:prstGeom>
          <a:noFill/>
          <a:ln/>
        </p:spPr>
        <p:txBody>
          <a:bodyPr wrap="square" lIns="0" tIns="0" rIns="0" bIns="0" rtlCol="0" anchor="t"/>
          <a:lstStyle/>
          <a:p>
            <a:pPr marL="0" indent="0">
              <a:buNone/>
            </a:pPr>
            <a:r>
              <a:rPr lang="en-US" sz="1050" dirty="0">
                <a:solidFill>
                  <a:srgbClr val="8C8478"/>
                </a:solidFill>
                <a:latin typeface="Calibri" pitchFamily="34" charset="0"/>
                <a:ea typeface="Calibri" pitchFamily="34" charset="-122"/>
                <a:cs typeface="Calibri" pitchFamily="34" charset="-120"/>
              </a:rPr>
              <a:t>Expand long-form classical and rock music tracks to sustain long session streaming engagement from core platform user cohorts. </a:t>
            </a:r>
            <a:endParaRPr lang="en-US" sz="1050" dirty="0"/>
          </a:p>
        </p:txBody>
      </p:sp>
      <p:sp>
        <p:nvSpPr>
          <p:cNvPr id="16" name="Shape 14"/>
          <p:cNvSpPr/>
          <p:nvPr/>
        </p:nvSpPr>
        <p:spPr>
          <a:xfrm>
            <a:off x="0" y="4754880"/>
            <a:ext cx="9144000" cy="388620"/>
          </a:xfrm>
          <a:prstGeom prst="rect">
            <a:avLst/>
          </a:prstGeom>
          <a:solidFill>
            <a:srgbClr val="E8734A"/>
          </a:solidFill>
          <a:ln/>
        </p:spPr>
        <p:txBody>
          <a:bodyPr/>
          <a:lstStyle/>
          <a:p>
            <a:endParaRPr lang="en-CA"/>
          </a:p>
        </p:txBody>
      </p:sp>
      <p:sp>
        <p:nvSpPr>
          <p:cNvPr id="17" name="Text 15"/>
          <p:cNvSpPr/>
          <p:nvPr/>
        </p:nvSpPr>
        <p:spPr>
          <a:xfrm>
            <a:off x="731520" y="4773168"/>
            <a:ext cx="7680960" cy="34747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Sources: Dataset provided by </a:t>
            </a:r>
            <a:r>
              <a:rPr lang="en-US" sz="900" dirty="0" err="1">
                <a:solidFill>
                  <a:srgbClr val="FFFFFF"/>
                </a:solidFill>
                <a:latin typeface="Calibri" pitchFamily="34" charset="0"/>
                <a:ea typeface="Calibri" pitchFamily="34" charset="-122"/>
                <a:cs typeface="Calibri" pitchFamily="34" charset="-120"/>
              </a:rPr>
              <a:t>Ededge</a:t>
            </a:r>
            <a:endParaRPr lang="en-US" sz="900" dirty="0"/>
          </a:p>
        </p:txBody>
      </p:sp>
      <p:sp>
        <p:nvSpPr>
          <p:cNvPr id="20" name="Text 1">
            <a:extLst>
              <a:ext uri="{FF2B5EF4-FFF2-40B4-BE49-F238E27FC236}">
                <a16:creationId xmlns:a16="http://schemas.microsoft.com/office/drawing/2014/main" id="{FCE88519-3950-C7DD-CCB1-BAB57274D073}"/>
              </a:ext>
            </a:extLst>
          </p:cNvPr>
          <p:cNvSpPr/>
          <p:nvPr/>
        </p:nvSpPr>
        <p:spPr>
          <a:xfrm>
            <a:off x="731520" y="1028700"/>
            <a:ext cx="6858000" cy="457200"/>
          </a:xfrm>
          <a:prstGeom prst="rect">
            <a:avLst/>
          </a:prstGeom>
          <a:noFill/>
          <a:ln/>
        </p:spPr>
        <p:txBody>
          <a:bodyPr wrap="square" lIns="0" tIns="0" rIns="0" bIns="0" rtlCol="0" anchor="ctr"/>
          <a:lstStyle/>
          <a:p>
            <a:pPr marL="0" indent="0" algn="l">
              <a:buNone/>
            </a:pPr>
            <a:r>
              <a:rPr lang="en-US" i="1" dirty="0">
                <a:solidFill>
                  <a:srgbClr val="D4A853"/>
                </a:solidFill>
                <a:latin typeface="Calibri" pitchFamily="34" charset="0"/>
                <a:ea typeface="Calibri" pitchFamily="34" charset="-122"/>
                <a:cs typeface="Calibri" pitchFamily="34" charset="-120"/>
              </a:rPr>
              <a:t>Executive Recommendations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TotalTime>
  <Words>1107</Words>
  <Application>Microsoft Office PowerPoint</Application>
  <PresentationFormat>On-screen Show (16:9)</PresentationFormat>
  <Paragraphs>114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Coco Wei</dc:creator>
  <cp:lastModifiedBy>Coco Wei</cp:lastModifiedBy>
  <cp:revision>5</cp:revision>
  <cp:lastPrinted>2026-05-31T21:42:55Z</cp:lastPrinted>
  <dcterms:created xsi:type="dcterms:W3CDTF">2026-05-31T02:12:02Z</dcterms:created>
  <dcterms:modified xsi:type="dcterms:W3CDTF">2026-06-01T19:38:12Z</dcterms:modified>
</cp:coreProperties>
</file>